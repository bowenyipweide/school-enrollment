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Montserrat"/>
      <p:regular r:id="rId42"/>
      <p:bold r:id="rId43"/>
      <p:italic r:id="rId44"/>
      <p:boldItalic r:id="rId45"/>
    </p:embeddedFont>
    <p:embeddedFont>
      <p:font typeface="Lato"/>
      <p:regular r:id="rId46"/>
      <p:bold r:id="rId47"/>
      <p:italic r:id="rId48"/>
      <p:boldItalic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Montserrat-regular.fntdata"/><Relationship Id="rId41" Type="http://schemas.openxmlformats.org/officeDocument/2006/relationships/slide" Target="slides/slide36.xml"/><Relationship Id="rId44" Type="http://schemas.openxmlformats.org/officeDocument/2006/relationships/font" Target="fonts/Montserrat-italic.fntdata"/><Relationship Id="rId43" Type="http://schemas.openxmlformats.org/officeDocument/2006/relationships/font" Target="fonts/Montserrat-bold.fntdata"/><Relationship Id="rId46" Type="http://schemas.openxmlformats.org/officeDocument/2006/relationships/font" Target="fonts/Lato-regular.fntdata"/><Relationship Id="rId45"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italic.fntdata"/><Relationship Id="rId47" Type="http://schemas.openxmlformats.org/officeDocument/2006/relationships/font" Target="fonts/Lato-bold.fntdata"/><Relationship Id="rId49"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2af287eb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2af287eb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9780f76bd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9780f76bd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93e463f4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993e463f4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 Slide 1 — Problem: SRP Violation in Original Version</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Title:</a:t>
            </a:r>
            <a:br>
              <a:rPr b="1" lang="en-GB">
                <a:solidFill>
                  <a:schemeClr val="dk1"/>
                </a:solidFill>
              </a:rPr>
            </a:br>
            <a:r>
              <a:rPr lang="en-GB">
                <a:solidFill>
                  <a:schemeClr val="dk1"/>
                </a:solidFill>
              </a:rPr>
              <a:t> 🧱 </a:t>
            </a:r>
            <a:r>
              <a:rPr i="1" lang="en-GB">
                <a:solidFill>
                  <a:schemeClr val="dk1"/>
                </a:solidFill>
              </a:rPr>
              <a:t>Before Refactoring: UserService Doing Too Much</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Slide Content (what to show visually):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Screenshot snippets (like the 3 code blocks: authentication, domain, CSV)</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 simple list:</a:t>
            </a:r>
            <a:br>
              <a:rPr lang="en-GB">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Handles </a:t>
            </a:r>
            <a:r>
              <a:rPr b="1" lang="en-GB">
                <a:solidFill>
                  <a:schemeClr val="dk1"/>
                </a:solidFill>
              </a:rPr>
              <a:t>authentication</a:t>
            </a:r>
            <a:r>
              <a:rPr lang="en-GB">
                <a:solidFill>
                  <a:schemeClr val="dk1"/>
                </a:solidFill>
              </a:rPr>
              <a:t>, </a:t>
            </a:r>
            <a:r>
              <a:rPr b="1" lang="en-GB">
                <a:solidFill>
                  <a:schemeClr val="dk1"/>
                </a:solidFill>
              </a:rPr>
              <a:t>business logic</a:t>
            </a:r>
            <a:r>
              <a:rPr lang="en-GB">
                <a:solidFill>
                  <a:schemeClr val="dk1"/>
                </a:solidFill>
              </a:rPr>
              <a:t>, and </a:t>
            </a:r>
            <a:r>
              <a:rPr b="1" lang="en-GB">
                <a:solidFill>
                  <a:schemeClr val="dk1"/>
                </a:solidFill>
              </a:rPr>
              <a:t>CSV persistence</a:t>
            </a:r>
            <a:r>
              <a:rPr lang="en-GB">
                <a:solidFill>
                  <a:schemeClr val="dk1"/>
                </a:solidFill>
              </a:rPr>
              <a:t> — all in one class</a:t>
            </a:r>
            <a:br>
              <a:rPr lang="en-GB">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“God class” — too many responsibilities</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Spoken Script:</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the original version, we had a single </a:t>
            </a:r>
            <a:r>
              <a:rPr lang="en-GB">
                <a:solidFill>
                  <a:srgbClr val="188038"/>
                </a:solidFill>
                <a:latin typeface="Roboto Mono"/>
                <a:ea typeface="Roboto Mono"/>
                <a:cs typeface="Roboto Mono"/>
                <a:sym typeface="Roboto Mono"/>
              </a:rPr>
              <a:t>UserService</a:t>
            </a:r>
            <a:r>
              <a:rPr lang="en-GB">
                <a:solidFill>
                  <a:schemeClr val="dk1"/>
                </a:solidFill>
              </a:rPr>
              <a:t> class doing everything — from logging users in, to creating and applying opportunities, and even reading and writing CSV files.</a:t>
            </a:r>
            <a:br>
              <a:rPr lang="en-GB">
                <a:solidFill>
                  <a:schemeClr val="dk1"/>
                </a:solidFill>
              </a:rPr>
            </a:br>
            <a:r>
              <a:rPr lang="en-GB">
                <a:solidFill>
                  <a:schemeClr val="dk1"/>
                </a:solidFill>
              </a:rPr>
              <a:t> This violates the </a:t>
            </a:r>
            <a:r>
              <a:rPr b="1" lang="en-GB">
                <a:solidFill>
                  <a:schemeClr val="dk1"/>
                </a:solidFill>
              </a:rPr>
              <a:t>Single Responsibility Principle</a:t>
            </a:r>
            <a:r>
              <a:rPr lang="en-GB">
                <a:solidFill>
                  <a:schemeClr val="dk1"/>
                </a:solidFill>
              </a:rPr>
              <a:t>, which says a class should have only one reason to change.</a:t>
            </a:r>
            <a:br>
              <a:rPr lang="en-GB">
                <a:solidFill>
                  <a:schemeClr val="dk1"/>
                </a:solidFill>
              </a:rPr>
            </a:br>
            <a:r>
              <a:rPr lang="en-GB">
                <a:solidFill>
                  <a:schemeClr val="dk1"/>
                </a:solidFill>
              </a:rPr>
              <a:t> Here, we can see three clear responsibilities mixed together — authentication, business logic, and persistence.”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“As a result, any small change in authentication or CSV format could ripple through the entire system, making testing and maintenance difficult.”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9780f76b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99780f76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 Slide 2 — Solution: Splitting Responsibilities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Title:</a:t>
            </a:r>
            <a:br>
              <a:rPr b="1" lang="en-GB">
                <a:solidFill>
                  <a:schemeClr val="dk1"/>
                </a:solidFill>
              </a:rPr>
            </a:br>
            <a:r>
              <a:rPr lang="en-GB">
                <a:solidFill>
                  <a:schemeClr val="dk1"/>
                </a:solidFill>
              </a:rPr>
              <a:t> 🔧 </a:t>
            </a:r>
            <a:r>
              <a:rPr i="1" lang="en-GB">
                <a:solidFill>
                  <a:schemeClr val="dk1"/>
                </a:solidFill>
              </a:rPr>
              <a:t>After Refactoring: Separation of Concerns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Slide Content (show your second image):</a:t>
            </a:r>
            <a:br>
              <a:rPr b="1" lang="en-GB">
                <a:solidFill>
                  <a:schemeClr val="dk1"/>
                </a:solidFill>
              </a:rPr>
            </a:br>
            <a:r>
              <a:rPr lang="en-GB">
                <a:solidFill>
                  <a:schemeClr val="dk1"/>
                </a:solidFill>
              </a:rPr>
              <a:t> Organize it as three layers or sections: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UI / CLI Layer</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Menus like </a:t>
            </a:r>
            <a:r>
              <a:rPr lang="en-GB">
                <a:solidFill>
                  <a:srgbClr val="188038"/>
                </a:solidFill>
                <a:latin typeface="Roboto Mono"/>
                <a:ea typeface="Roboto Mono"/>
                <a:cs typeface="Roboto Mono"/>
                <a:sym typeface="Roboto Mono"/>
              </a:rPr>
              <a:t>StudentMenu</a:t>
            </a:r>
            <a:r>
              <a:rPr lang="en-GB">
                <a:solidFill>
                  <a:schemeClr val="dk1"/>
                </a:solidFill>
              </a:rPr>
              <a:t>, </a:t>
            </a:r>
            <a:r>
              <a:rPr lang="en-GB">
                <a:solidFill>
                  <a:srgbClr val="188038"/>
                </a:solidFill>
                <a:latin typeface="Roboto Mono"/>
                <a:ea typeface="Roboto Mono"/>
                <a:cs typeface="Roboto Mono"/>
                <a:sym typeface="Roboto Mono"/>
              </a:rPr>
              <a:t>CompanyRepMenu</a:t>
            </a:r>
            <a:r>
              <a:rPr lang="en-GB">
                <a:solidFill>
                  <a:schemeClr val="dk1"/>
                </a:solidFill>
              </a:rPr>
              <a:t>, etc.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Domain Services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rgbClr val="188038"/>
                </a:solidFill>
                <a:latin typeface="Roboto Mono"/>
                <a:ea typeface="Roboto Mono"/>
                <a:cs typeface="Roboto Mono"/>
                <a:sym typeface="Roboto Mono"/>
              </a:rPr>
              <a:t>AuthService</a:t>
            </a:r>
            <a:r>
              <a:rPr lang="en-GB">
                <a:solidFill>
                  <a:schemeClr val="dk1"/>
                </a:solidFill>
              </a:rPr>
              <a:t> (login, approve)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rgbClr val="188038"/>
                </a:solidFill>
                <a:latin typeface="Roboto Mono"/>
                <a:ea typeface="Roboto Mono"/>
                <a:cs typeface="Roboto Mono"/>
                <a:sym typeface="Roboto Mono"/>
              </a:rPr>
              <a:t>PortalService</a:t>
            </a:r>
            <a:r>
              <a:rPr lang="en-GB">
                <a:solidFill>
                  <a:schemeClr val="dk1"/>
                </a:solidFill>
              </a:rPr>
              <a:t> (create, apply, appeal)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Persistence Helpers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rgbClr val="188038"/>
                </a:solidFill>
                <a:latin typeface="Roboto Mono"/>
                <a:ea typeface="Roboto Mono"/>
                <a:cs typeface="Roboto Mono"/>
                <a:sym typeface="Roboto Mono"/>
              </a:rPr>
              <a:t>CsvUtil</a:t>
            </a:r>
            <a:r>
              <a:rPr lang="en-GB">
                <a:solidFill>
                  <a:schemeClr val="dk1"/>
                </a:solidFill>
              </a:rPr>
              <a:t>, </a:t>
            </a:r>
            <a:r>
              <a:rPr lang="en-GB">
                <a:solidFill>
                  <a:srgbClr val="188038"/>
                </a:solidFill>
                <a:latin typeface="Roboto Mono"/>
                <a:ea typeface="Roboto Mono"/>
                <a:cs typeface="Roboto Mono"/>
                <a:sym typeface="Roboto Mono"/>
              </a:rPr>
              <a:t>OppAppCsv</a:t>
            </a:r>
            <a:r>
              <a:rPr lang="en-GB">
                <a:solidFill>
                  <a:schemeClr val="dk1"/>
                </a:solidFill>
              </a:rPr>
              <a:t>, </a:t>
            </a:r>
            <a:r>
              <a:rPr lang="en-GB">
                <a:solidFill>
                  <a:srgbClr val="188038"/>
                </a:solidFill>
                <a:latin typeface="Roboto Mono"/>
                <a:ea typeface="Roboto Mono"/>
                <a:cs typeface="Roboto Mono"/>
                <a:sym typeface="Roboto Mono"/>
              </a:rPr>
              <a:t>PreferenceService</a:t>
            </a:r>
            <a:endParaRPr>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Spoken Script:</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“To fix this, we </a:t>
            </a:r>
            <a:r>
              <a:rPr b="1" lang="en-GB">
                <a:solidFill>
                  <a:schemeClr val="dk1"/>
                </a:solidFill>
              </a:rPr>
              <a:t>segregated the UserService</a:t>
            </a:r>
            <a:r>
              <a:rPr lang="en-GB">
                <a:solidFill>
                  <a:schemeClr val="dk1"/>
                </a:solidFill>
              </a:rPr>
              <a:t> into smaller, focused components.</a:t>
            </a:r>
            <a:br>
              <a:rPr lang="en-GB">
                <a:solidFill>
                  <a:schemeClr val="dk1"/>
                </a:solidFill>
              </a:rPr>
            </a:br>
            <a:r>
              <a:rPr lang="en-GB">
                <a:solidFill>
                  <a:schemeClr val="dk1"/>
                </a:solidFill>
              </a:rPr>
              <a:t> Each layer now handles only one kind of responsibility.</a:t>
            </a:r>
            <a:br>
              <a:rPr lang="en-GB">
                <a:solidFill>
                  <a:schemeClr val="dk1"/>
                </a:solidFill>
              </a:rPr>
            </a:br>
            <a:r>
              <a:rPr lang="en-GB">
                <a:solidFill>
                  <a:schemeClr val="dk1"/>
                </a:solidFill>
              </a:rPr>
              <a:t> The UI layer focuses on input and output;</a:t>
            </a:r>
            <a:br>
              <a:rPr lang="en-GB">
                <a:solidFill>
                  <a:schemeClr val="dk1"/>
                </a:solidFill>
              </a:rPr>
            </a:br>
            <a:r>
              <a:rPr lang="en-GB">
                <a:solidFill>
                  <a:schemeClr val="dk1"/>
                </a:solidFill>
              </a:rPr>
              <a:t> the domain layer contains the business logic and rules;</a:t>
            </a:r>
            <a:br>
              <a:rPr lang="en-GB">
                <a:solidFill>
                  <a:schemeClr val="dk1"/>
                </a:solidFill>
              </a:rPr>
            </a:br>
            <a:r>
              <a:rPr lang="en-GB">
                <a:solidFill>
                  <a:schemeClr val="dk1"/>
                </a:solidFill>
              </a:rPr>
              <a:t> and the persistence helper layer manages all CSV operations.”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makes each class cohesive — and each one now has only a single reason to change.”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 Slide 3 — Results: Advantages of the Change</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Title:</a:t>
            </a:r>
            <a:br>
              <a:rPr b="1" lang="en-GB">
                <a:solidFill>
                  <a:schemeClr val="dk1"/>
                </a:solidFill>
              </a:rPr>
            </a:br>
            <a:r>
              <a:rPr lang="en-GB">
                <a:solidFill>
                  <a:schemeClr val="dk1"/>
                </a:solidFill>
              </a:rPr>
              <a:t> 🚀 </a:t>
            </a:r>
            <a:r>
              <a:rPr i="1" lang="en-GB">
                <a:solidFill>
                  <a:schemeClr val="dk1"/>
                </a:solidFill>
              </a:rPr>
              <a:t>Benefits of Applying SRP</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Slide Content (use</a:t>
            </a:r>
            <a:r>
              <a:rPr b="1" lang="en-GB">
                <a:solidFill>
                  <a:schemeClr val="dk1"/>
                </a:solidFill>
              </a:rPr>
              <a:t> </a:t>
            </a:r>
            <a:r>
              <a:rPr b="1" lang="en-GB">
                <a:solidFill>
                  <a:schemeClr val="dk1"/>
                </a:solidFill>
              </a:rPr>
              <a:t>bullet points):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Change isolation:</a:t>
            </a:r>
            <a:r>
              <a:rPr lang="en-GB">
                <a:solidFill>
                  <a:schemeClr val="dk1"/>
                </a:solidFill>
              </a:rPr>
              <a:t> Auth updates don’t affect CSV or portal logic.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Easier technology swap:</a:t>
            </a:r>
            <a:r>
              <a:rPr lang="en-GB">
                <a:solidFill>
                  <a:schemeClr val="dk1"/>
                </a:solidFill>
              </a:rPr>
              <a:t> Can replace CSV with database easily.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Extensible:</a:t>
            </a:r>
            <a:r>
              <a:rPr lang="en-GB">
                <a:solidFill>
                  <a:schemeClr val="dk1"/>
                </a:solidFill>
              </a:rPr>
              <a:t> Easier to add new features later.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Spoken Script:</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“After refactoring, we achieved clearer change isolation — for example, authentication changes affect only </a:t>
            </a:r>
            <a:r>
              <a:rPr lang="en-GB">
                <a:solidFill>
                  <a:srgbClr val="188038"/>
                </a:solidFill>
                <a:latin typeface="Roboto Mono"/>
                <a:ea typeface="Roboto Mono"/>
                <a:cs typeface="Roboto Mono"/>
                <a:sym typeface="Roboto Mono"/>
              </a:rPr>
              <a:t>AuthService</a:t>
            </a:r>
            <a:r>
              <a:rPr lang="en-GB">
                <a:solidFill>
                  <a:schemeClr val="dk1"/>
                </a:solidFill>
              </a:rPr>
              <a:t>, not the rest of the system.</a:t>
            </a:r>
            <a:br>
              <a:rPr lang="en-GB">
                <a:solidFill>
                  <a:schemeClr val="dk1"/>
                </a:solidFill>
              </a:rPr>
            </a:br>
            <a:r>
              <a:rPr lang="en-GB">
                <a:solidFill>
                  <a:schemeClr val="dk1"/>
                </a:solidFill>
              </a:rPr>
              <a:t> It’s now easier to swap technologies — if we want to replace CSV with a database, we only update the persistence helpers.</a:t>
            </a:r>
            <a:br>
              <a:rPr lang="en-GB">
                <a:solidFill>
                  <a:schemeClr val="dk1"/>
                </a:solidFill>
              </a:rPr>
            </a:br>
            <a:r>
              <a:rPr lang="en-GB">
                <a:solidFill>
                  <a:schemeClr val="dk1"/>
                </a:solidFill>
              </a:rPr>
              <a:t> And future extensions are simpler because each class focuses on one role.”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“Overall, this refactor improves maintainability, reduces ripple effects, and aligns our system more closely with the Single Responsibility Principle.”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9780f76bd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9780f76bd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914400" rtl="0" algn="l">
              <a:lnSpc>
                <a:spcPct val="115000"/>
              </a:lnSpc>
              <a:spcBef>
                <a:spcPts val="0"/>
              </a:spcBef>
              <a:spcAft>
                <a:spcPts val="0"/>
              </a:spcAft>
              <a:buClr>
                <a:schemeClr val="dk1"/>
              </a:buClr>
              <a:buSzPts val="1100"/>
              <a:buFont typeface="Arial"/>
              <a:buChar char="○"/>
            </a:pPr>
            <a:r>
              <a:rPr lang="en-GB">
                <a:solidFill>
                  <a:schemeClr val="dk1"/>
                </a:solidFill>
              </a:rPr>
              <a:t>You should be able to add new behaviour </a:t>
            </a:r>
            <a:r>
              <a:rPr b="1" lang="en-GB">
                <a:solidFill>
                  <a:schemeClr val="dk1"/>
                </a:solidFill>
              </a:rPr>
              <a:t>without editing existing code</a:t>
            </a:r>
            <a:r>
              <a:rPr lang="en-GB">
                <a:solidFill>
                  <a:schemeClr val="dk1"/>
                </a:solidFill>
              </a:rPr>
              <a:t>.- main idea </a:t>
            </a:r>
            <a:endParaRPr>
              <a:solidFill>
                <a:schemeClr val="dk1"/>
              </a:solidFill>
            </a:endParaRPr>
          </a:p>
          <a:p>
            <a:pPr indent="-311150" lvl="0" marL="914400" rtl="0" algn="l">
              <a:lnSpc>
                <a:spcPct val="115000"/>
              </a:lnSpc>
              <a:spcBef>
                <a:spcPts val="0"/>
              </a:spcBef>
              <a:spcAft>
                <a:spcPts val="0"/>
              </a:spcAft>
              <a:buClr>
                <a:schemeClr val="dk1"/>
              </a:buClr>
              <a:buSzPts val="1300"/>
              <a:buFont typeface="Lato"/>
              <a:buChar char="○"/>
            </a:pPr>
            <a:r>
              <a:rPr lang="en-GB">
                <a:solidFill>
                  <a:schemeClr val="dk1"/>
                </a:solidFill>
              </a:rPr>
              <a:t>Problem that arises is Your </a:t>
            </a:r>
            <a:r>
              <a:rPr b="1" lang="en-GB">
                <a:solidFill>
                  <a:schemeClr val="dk1"/>
                </a:solidFill>
              </a:rPr>
              <a:t>Menu</a:t>
            </a:r>
            <a:r>
              <a:rPr lang="en-GB">
                <a:solidFill>
                  <a:schemeClr val="dk1"/>
                </a:solidFill>
              </a:rPr>
              <a:t> directly calls </a:t>
            </a:r>
            <a:r>
              <a:rPr b="1" lang="en-GB">
                <a:solidFill>
                  <a:schemeClr val="dk1"/>
                </a:solidFill>
              </a:rPr>
              <a:t>PreferenceService</a:t>
            </a:r>
            <a:r>
              <a:rPr lang="en-GB">
                <a:solidFill>
                  <a:schemeClr val="dk1"/>
                </a:solidFill>
              </a:rPr>
              <a:t> (a concrete class).</a:t>
            </a:r>
            <a:endParaRPr>
              <a:solidFill>
                <a:schemeClr val="dk1"/>
              </a:solidFill>
            </a:endParaRPr>
          </a:p>
          <a:p>
            <a:pPr indent="-311150" lvl="0" marL="914400" rtl="0" algn="l">
              <a:lnSpc>
                <a:spcPct val="115000"/>
              </a:lnSpc>
              <a:spcBef>
                <a:spcPts val="0"/>
              </a:spcBef>
              <a:spcAft>
                <a:spcPts val="0"/>
              </a:spcAft>
              <a:buClr>
                <a:schemeClr val="dk1"/>
              </a:buClr>
              <a:buSzPts val="1300"/>
              <a:buFont typeface="Lato"/>
              <a:buChar char="○"/>
            </a:pPr>
            <a:r>
              <a:rPr lang="en-GB">
                <a:solidFill>
                  <a:schemeClr val="dk1"/>
                </a:solidFill>
              </a:rPr>
              <a:t>If you change how preferences are saved (CSV → Database → JSON → Redis → Encryption),</a:t>
            </a:r>
            <a:br>
              <a:rPr lang="en-GB">
                <a:solidFill>
                  <a:schemeClr val="dk1"/>
                </a:solidFill>
              </a:rPr>
            </a:br>
            <a:r>
              <a:rPr b="1" lang="en-GB">
                <a:solidFill>
                  <a:schemeClr val="dk1"/>
                </a:solidFill>
              </a:rPr>
              <a:t>every Menu class must be edited</a:t>
            </a:r>
            <a:r>
              <a:rPr lang="en-GB">
                <a:solidFill>
                  <a:schemeClr val="dk1"/>
                </a:solidFill>
              </a:rPr>
              <a:t> because they depend on this fixed class.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GB" sz="1300">
                <a:solidFill>
                  <a:schemeClr val="dk1"/>
                </a:solidFill>
              </a:rPr>
              <a:t>Why this violates OCP:</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Changing PreferenceService forces changes in multiple modules (menus).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Modules should not change just because you want to change storage method.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Code is </a:t>
            </a:r>
            <a:r>
              <a:rPr b="1" lang="en-GB">
                <a:solidFill>
                  <a:schemeClr val="dk1"/>
                </a:solidFill>
              </a:rPr>
              <a:t>not closed to modification</a:t>
            </a:r>
            <a:r>
              <a:rPr lang="en-GB">
                <a:solidFill>
                  <a:schemeClr val="dk1"/>
                </a:solidFill>
              </a:rPr>
              <a:t> → many breakpoints, high maintenance.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 </a:t>
            </a:r>
            <a:r>
              <a:rPr b="1" lang="en-GB">
                <a:solidFill>
                  <a:schemeClr val="dk1"/>
                </a:solidFill>
              </a:rPr>
              <a:t>In short:</a:t>
            </a:r>
            <a:br>
              <a:rPr b="1" lang="en-GB">
                <a:solidFill>
                  <a:schemeClr val="dk1"/>
                </a:solidFill>
              </a:rPr>
            </a:br>
            <a:r>
              <a:rPr lang="en-GB">
                <a:solidFill>
                  <a:schemeClr val="dk1"/>
                </a:solidFill>
              </a:rPr>
              <a:t>Your menus are tightly coupled to a specific implementation → not flexible.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298450" lvl="0" marL="914400" rtl="0" algn="l">
              <a:lnSpc>
                <a:spcPct val="115000"/>
              </a:lnSpc>
              <a:spcBef>
                <a:spcPts val="0"/>
              </a:spcBef>
              <a:spcAft>
                <a:spcPts val="0"/>
              </a:spcAft>
              <a:buClr>
                <a:schemeClr val="dk1"/>
              </a:buClr>
              <a:buSzPts val="1100"/>
              <a:buFont typeface="Arial"/>
              <a:buChar char="○"/>
            </a:pPr>
            <a:r>
              <a:rPr lang="en-GB">
                <a:solidFill>
                  <a:schemeClr val="dk1"/>
                </a:solidFill>
              </a:rPr>
              <a:t>Modules should not change just because you want to change storage method.</a:t>
            </a:r>
            <a:endParaRPr>
              <a:solidFill>
                <a:schemeClr val="dk1"/>
              </a:solidFill>
            </a:endParaRPr>
          </a:p>
          <a:p>
            <a:pPr indent="-298450" lvl="0" marL="914400" rtl="0" algn="l">
              <a:lnSpc>
                <a:spcPct val="115000"/>
              </a:lnSpc>
              <a:spcBef>
                <a:spcPts val="0"/>
              </a:spcBef>
              <a:spcAft>
                <a:spcPts val="0"/>
              </a:spcAft>
              <a:buClr>
                <a:schemeClr val="dk1"/>
              </a:buClr>
              <a:buSzPts val="1100"/>
              <a:buFont typeface="Arial"/>
              <a:buChar char="○"/>
            </a:pPr>
            <a:r>
              <a:rPr lang="en-GB">
                <a:solidFill>
                  <a:schemeClr val="dk1"/>
                </a:solidFill>
              </a:rPr>
              <a:t>Code is </a:t>
            </a:r>
            <a:r>
              <a:rPr b="1" lang="en-GB">
                <a:solidFill>
                  <a:schemeClr val="dk1"/>
                </a:solidFill>
              </a:rPr>
              <a:t>not closed to modification</a:t>
            </a:r>
            <a:r>
              <a:rPr lang="en-GB">
                <a:solidFill>
                  <a:schemeClr val="dk1"/>
                </a:solidFill>
              </a:rPr>
              <a:t> → many breakpoints, high maintenance.</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9780f76bd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99780f76bd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Menus depend on an abstraction, not concrete implementation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Menus know only the interface </a:t>
            </a:r>
            <a:r>
              <a:rPr lang="en-GB">
                <a:solidFill>
                  <a:srgbClr val="188038"/>
                </a:solidFill>
                <a:latin typeface="Roboto Mono"/>
                <a:ea typeface="Roboto Mono"/>
                <a:cs typeface="Roboto Mono"/>
                <a:sym typeface="Roboto Mono"/>
              </a:rPr>
              <a:t>PreferenceStore</a:t>
            </a:r>
            <a:br>
              <a:rPr lang="en-GB">
                <a:solidFill>
                  <a:srgbClr val="188038"/>
                </a:solidFill>
                <a:latin typeface="Roboto Mono"/>
                <a:ea typeface="Roboto Mono"/>
                <a:cs typeface="Roboto Mono"/>
                <a:sym typeface="Roboto Mono"/>
              </a:rPr>
            </a:br>
            <a:r>
              <a:rPr lang="en-GB">
                <a:solidFill>
                  <a:schemeClr val="dk1"/>
                </a:solidFill>
              </a:rPr>
              <a:t>→ they don't care if preferences are stored in CSV, DB, JSON, cloud, encrypted file, etc.</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You can extend behaviour without modifying the Menu classes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tomorrow you want: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RedisPreferenceService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DatabasePreferenceService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EncryptedPreferenceService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 can simply create new classes implementing </a:t>
            </a:r>
            <a:r>
              <a:rPr lang="en-GB">
                <a:solidFill>
                  <a:srgbClr val="188038"/>
                </a:solidFill>
                <a:latin typeface="Roboto Mono"/>
                <a:ea typeface="Roboto Mono"/>
                <a:cs typeface="Roboto Mono"/>
                <a:sym typeface="Roboto Mono"/>
              </a:rPr>
              <a:t>PreferenceStore</a:t>
            </a:r>
            <a:r>
              <a:rPr lang="en-GB">
                <a:solidFill>
                  <a:schemeClr val="dk1"/>
                </a:solidFill>
              </a:rPr>
              <a:t> and plug them 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Menus remain untouched.</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System is OPEN for extension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 can add new storage methods.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System is CLOSED for modification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Menu code does not need to change.</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308cf5533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308cf5533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Next, I’ll talk about the Liskov Substitution Principle, or LSP. LSP means that a subclass should be usable anywhere its superclass is expected, without breaking the program or changing behavior.</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In our original design, we found a violation of LSP in the CompanyRep class, specifically in the passwordMatches method. The base class User defines it like this: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&lt;refer to first screenshot&gt;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method simply checks the password and returns a boolean. It never throws exceptions, which is part of its contract: any subclass that overrides this method should also return a boolean and not change this behavior.</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In CompanyRep, we added a check for approval:</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&lt;refer to second screenshot&gt;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a:solidFill>
                  <a:schemeClr val="dk1"/>
                </a:solidFill>
              </a:rPr>
              <a:t>Here, if the representative is not approved, it throws an exception instead of returning a boolean. In other words, we strengthened the precondition and changed the method’s contract, which is exactly what LSP warns against. A CompanyRep can no longer safely replace a User, and anywhere expecting a User could fail.</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308cf5533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308cf5533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We fixed this by keeping passwordMatches uniform and handling approval outside the class: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&lt;refer to first screenshot&gt;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Now, passwordMatches behaves the same for all users, and CompanyRep simply exposes its approval state. Role-specific checks, like whether a CompanyRep is approved, are handled in a service such as AuthService: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&lt;refer to second screenshot&gt;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a:solidFill>
                  <a:schemeClr val="dk1"/>
                </a:solidFill>
              </a:rPr>
              <a:t>The login service first checks the password consistently, then handles role-specific rules. This keeps the method’s contract stable, ensures subclasses can substitute the superclass safely, and makes the system more reliable and maintainable.</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2af287eb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2af287eb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9780f76b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9780f76b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99780f76bd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99780f76bd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9780f76bd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99780f76bd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99780f76bd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99780f76bd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99780f76bd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99780f76bd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99780f76bd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99780f76bd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AutoNum type="arabicPeriod"/>
            </a:pPr>
            <a:r>
              <a:rPr lang="en-GB"/>
              <a:t>Easier to maintain </a:t>
            </a:r>
            <a:endParaRPr/>
          </a:p>
          <a:p>
            <a:pPr indent="-298450" lvl="0" marL="457200" rtl="0" algn="l">
              <a:lnSpc>
                <a:spcPct val="115000"/>
              </a:lnSpc>
              <a:spcBef>
                <a:spcPts val="0"/>
              </a:spcBef>
              <a:spcAft>
                <a:spcPts val="0"/>
              </a:spcAft>
              <a:buSzPts val="1100"/>
              <a:buAutoNum type="arabicPeriod"/>
            </a:pPr>
            <a:r>
              <a:rPr lang="en-GB">
                <a:solidFill>
                  <a:schemeClr val="dk1"/>
                </a:solidFill>
              </a:rPr>
              <a:t>After login, we don’t write long if-else checks. Because each subclass overrides </a:t>
            </a:r>
            <a:r>
              <a:rPr lang="en-GB">
                <a:solidFill>
                  <a:srgbClr val="188038"/>
                </a:solidFill>
                <a:latin typeface="Roboto Mono"/>
                <a:ea typeface="Roboto Mono"/>
                <a:cs typeface="Roboto Mono"/>
                <a:sym typeface="Roboto Mono"/>
              </a:rPr>
              <a:t>getMenu()</a:t>
            </a:r>
            <a:r>
              <a:rPr lang="en-GB">
                <a:solidFill>
                  <a:schemeClr val="dk1"/>
                </a:solidFill>
              </a:rPr>
              <a:t>, we can simply call </a:t>
            </a:r>
            <a:r>
              <a:rPr lang="en-GB">
                <a:solidFill>
                  <a:srgbClr val="188038"/>
                </a:solidFill>
                <a:latin typeface="Roboto Mono"/>
                <a:ea typeface="Roboto Mono"/>
                <a:cs typeface="Roboto Mono"/>
                <a:sym typeface="Roboto Mono"/>
              </a:rPr>
              <a:t>u.getMenu()</a:t>
            </a:r>
            <a:r>
              <a:rPr lang="en-GB">
                <a:solidFill>
                  <a:schemeClr val="dk1"/>
                </a:solidFill>
              </a:rPr>
              <a:t> and the correct menu is returned automatically </a:t>
            </a:r>
            <a:endParaRPr/>
          </a:p>
          <a:p>
            <a:pPr indent="-298450" lvl="0" marL="457200" rtl="0" algn="l">
              <a:lnSpc>
                <a:spcPct val="115000"/>
              </a:lnSpc>
              <a:spcBef>
                <a:spcPts val="0"/>
              </a:spcBef>
              <a:spcAft>
                <a:spcPts val="0"/>
              </a:spcAft>
              <a:buSzPts val="1100"/>
              <a:buAutoNum type="arabicPeriod"/>
            </a:pPr>
            <a:r>
              <a:rPr lang="en-GB"/>
              <a:t>Every role has its own behaviour.Instead of mixing everything in one place, we let each subclass override the function so it controls its own output.</a:t>
            </a:r>
            <a:endParaRPr/>
          </a:p>
          <a:p>
            <a:pPr indent="-298450" lvl="0" marL="457200" rtl="0" algn="l">
              <a:lnSpc>
                <a:spcPct val="115000"/>
              </a:lnSpc>
              <a:spcBef>
                <a:spcPts val="0"/>
              </a:spcBef>
              <a:spcAft>
                <a:spcPts val="0"/>
              </a:spcAft>
              <a:buSzPts val="1100"/>
              <a:buAutoNum type="arabicPeriod"/>
            </a:pPr>
            <a:r>
              <a:rPr lang="en-GB"/>
              <a:t>Simple design - easier for future extension</a:t>
            </a:r>
            <a:endParaRPr/>
          </a:p>
          <a:p>
            <a:pPr indent="-298450" lvl="0" marL="457200" rtl="0" algn="l">
              <a:lnSpc>
                <a:spcPct val="115000"/>
              </a:lnSpc>
              <a:spcBef>
                <a:spcPts val="0"/>
              </a:spcBef>
              <a:spcAft>
                <a:spcPts val="0"/>
              </a:spcAft>
              <a:buSzPts val="1100"/>
              <a:buAutoNum type="arabicPeriod"/>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9780f76bd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9780f76b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Next, I’ll talk about polymorphism. Polymorphism allows a single function or operation to behave differently depending on the object it works with. This makes software more adaptable and reusable.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In our system, we use two types: subtype polymorphism and strategy polymorphism.</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Subtype polymorphism lets the same tool work with different types of objects through a shared interface. For example, when we sort internship opportunities, we use Comparator&lt;InternshipOpportunity&gt;. All comparators share the same interface, so sorting works uniformly whether we sort by title, company name, opening date, or empty slots. Here’s how we select the comparator:</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&lt;refer to first function&gt;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For titles and company names, we use a case-insensitive comparison. For opening dates, we parse the string to a LocalDate. For empty slots, we calculate remaining slots and sort in descending order. The default comparator sorts by ID.</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Once the comparator is selected, we apply it to the list: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&lt;refer to second function&gt;</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This shows how subtype polymorphism lets the same sorting mechanism work across different criteria.</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308cf5533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a308cf5533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Strategy polymorphism allows the program to choose a specific behavior at runtime. In our system, this is used for filtering. The valueFor method extracts the relevant data from each internship opportunity based on the selected column:</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&lt;refer to first function&gt;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Then, applyFilter applies a keyword search across the chosen column:</a:t>
            </a:r>
            <a:endParaRPr>
              <a:solidFill>
                <a:schemeClr val="dk1"/>
              </a:solidFill>
            </a:endParaRPr>
          </a:p>
          <a:p>
            <a:pPr indent="0" lvl="0" marL="0" rtl="0" algn="l">
              <a:lnSpc>
                <a:spcPct val="115000"/>
              </a:lnSpc>
              <a:spcBef>
                <a:spcPts val="1000"/>
              </a:spcBef>
              <a:spcAft>
                <a:spcPts val="0"/>
              </a:spcAft>
              <a:buNone/>
            </a:pPr>
            <a:r>
              <a:rPr lang="en-GB">
                <a:solidFill>
                  <a:schemeClr val="dk1"/>
                </a:solidFill>
              </a:rPr>
              <a:t>&lt;refer to second function&gt;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allows the filtering logic to work for any column. The program selects the strategy at runtime, keeping the system flexible and maintainable.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a:solidFill>
                  <a:schemeClr val="dk1"/>
                </a:solidFill>
              </a:rPr>
              <a:t>By combining subtype and strategy polymorphism, our system can treat objects uniformly through interfaces and select the correct behavior at runtime.</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2af287eb5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2af287eb5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99780f76bd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99780f76bd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99780f76bd_4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99780f76bd_4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99780f76bd_4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99780f76bd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99780f76bd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99780f76bd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99780f76bd_4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99780f76bd_4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99780f76bd_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99780f76bd_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99780f76bd_4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99780f76bd_4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9780f76bd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99780f76bd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a2af287eb5_4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a2af287eb5_4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31b26e7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a31b26e7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a31b26e75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a31b26e75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31b26e75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a31b26e75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31b26e75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31b26e75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31b26e75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31b26e75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31b26e75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a31b26e75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31b26e75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a31b26e75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1️⃣ Explain the Concept Briefly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“Encapsulation means keeping the internal state of an object private and controlling how it can be accessed or changed.</a:t>
            </a:r>
            <a:br>
              <a:rPr lang="en-GB">
                <a:solidFill>
                  <a:schemeClr val="dk1"/>
                </a:solidFill>
              </a:rPr>
            </a:br>
            <a:r>
              <a:rPr lang="en-GB">
                <a:solidFill>
                  <a:schemeClr val="dk1"/>
                </a:solidFill>
              </a:rPr>
              <a:t> Abstraction means exposing only what is necessary — so other parts of the system can use the object without knowing how it works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2️⃣ Link It to the Class Example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“For example, in our </a:t>
            </a:r>
            <a:r>
              <a:rPr lang="en-GB">
                <a:solidFill>
                  <a:srgbClr val="188038"/>
                </a:solidFill>
                <a:latin typeface="Roboto Mono"/>
                <a:ea typeface="Roboto Mono"/>
                <a:cs typeface="Roboto Mono"/>
                <a:sym typeface="Roboto Mono"/>
              </a:rPr>
              <a:t>InternshipOpportunity</a:t>
            </a:r>
            <a:r>
              <a:rPr lang="en-GB">
                <a:solidFill>
                  <a:schemeClr val="dk1"/>
                </a:solidFill>
              </a:rPr>
              <a:t> class, we keep important data like the </a:t>
            </a:r>
            <a:r>
              <a:rPr i="1" lang="en-GB">
                <a:solidFill>
                  <a:schemeClr val="dk1"/>
                </a:solidFill>
              </a:rPr>
              <a:t>opening date</a:t>
            </a:r>
            <a:r>
              <a:rPr lang="en-GB">
                <a:solidFill>
                  <a:schemeClr val="dk1"/>
                </a:solidFill>
              </a:rPr>
              <a:t>, </a:t>
            </a:r>
            <a:r>
              <a:rPr i="1" lang="en-GB">
                <a:solidFill>
                  <a:schemeClr val="dk1"/>
                </a:solidFill>
              </a:rPr>
              <a:t>closing date</a:t>
            </a:r>
            <a:r>
              <a:rPr lang="en-GB">
                <a:solidFill>
                  <a:schemeClr val="dk1"/>
                </a:solidFill>
              </a:rPr>
              <a:t>, </a:t>
            </a:r>
            <a:r>
              <a:rPr i="1" lang="en-GB">
                <a:solidFill>
                  <a:schemeClr val="dk1"/>
                </a:solidFill>
              </a:rPr>
              <a:t>total slots</a:t>
            </a:r>
            <a:r>
              <a:rPr lang="en-GB">
                <a:solidFill>
                  <a:schemeClr val="dk1"/>
                </a:solidFill>
              </a:rPr>
              <a:t>, and </a:t>
            </a:r>
            <a:r>
              <a:rPr i="1" lang="en-GB">
                <a:solidFill>
                  <a:schemeClr val="dk1"/>
                </a:solidFill>
              </a:rPr>
              <a:t>confirmed count</a:t>
            </a:r>
            <a:r>
              <a:rPr lang="en-GB">
                <a:solidFill>
                  <a:schemeClr val="dk1"/>
                </a:solidFill>
              </a:rPr>
              <a:t> as </a:t>
            </a:r>
            <a:r>
              <a:rPr b="1" lang="en-GB">
                <a:solidFill>
                  <a:schemeClr val="dk1"/>
                </a:solidFill>
              </a:rPr>
              <a:t>private attributes</a:t>
            </a:r>
            <a:r>
              <a:rPr lang="en-GB">
                <a:solidFill>
                  <a:schemeClr val="dk1"/>
                </a:solidFill>
              </a:rPr>
              <a:t>.</a:t>
            </a:r>
            <a:br>
              <a:rPr lang="en-GB">
                <a:solidFill>
                  <a:schemeClr val="dk1"/>
                </a:solidFill>
              </a:rPr>
            </a:br>
            <a:r>
              <a:rPr lang="en-GB">
                <a:solidFill>
                  <a:schemeClr val="dk1"/>
                </a:solidFill>
              </a:rPr>
              <a:t> Other classes can’t directly modify them — they must use the public methods that we’ve defined.”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(show UML or code snippet)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3️⃣ Walk Through the Code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“Here, we have three key methods: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a:solidFill>
                  <a:schemeClr val="dk1"/>
                </a:solidFill>
              </a:rPr>
              <a:t>isOpenNow()</a:t>
            </a:r>
            <a:r>
              <a:rPr lang="en-GB">
                <a:solidFill>
                  <a:schemeClr val="dk1"/>
                </a:solidFill>
              </a:rPr>
              <a:t> — checks whether the internship is currently open by comparing today’s date with the opening and closing dates.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isFilled()</a:t>
            </a:r>
            <a:r>
              <a:rPr lang="en-GB">
                <a:solidFill>
                  <a:schemeClr val="dk1"/>
                </a:solidFill>
              </a:rPr>
              <a:t> — checks if all available slots are already taken.</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a:solidFill>
                  <a:schemeClr val="dk1"/>
                </a:solidFill>
              </a:rPr>
              <a:t>increaseConfirmed()</a:t>
            </a:r>
            <a:r>
              <a:rPr lang="en-GB">
                <a:solidFill>
                  <a:schemeClr val="dk1"/>
                </a:solidFill>
              </a:rPr>
              <a:t> — safely increases the confirmed count, but it first checks if the internship is already filled before doing so. If it’s full, it throws an error to protect the data.”</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i="1" lang="en-GB">
                <a:solidFill>
                  <a:schemeClr val="dk1"/>
                </a:solidFill>
              </a:rPr>
              <a:t>Tip:</a:t>
            </a:r>
            <a:r>
              <a:rPr lang="en-GB">
                <a:solidFill>
                  <a:schemeClr val="dk1"/>
                </a:solidFill>
              </a:rPr>
              <a:t> When speaking, pause slightly at each method name, and use your pointer to guide the audience’s eyes to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4️⃣ Explain Why This Matters (Encapsulation in Action)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“These methods prevent invalid operations — for example, we can’t accidentally overfill the internship because the rule is enforced </a:t>
            </a:r>
            <a:r>
              <a:rPr b="1" lang="en-GB">
                <a:solidFill>
                  <a:schemeClr val="dk1"/>
                </a:solidFill>
              </a:rPr>
              <a:t>inside</a:t>
            </a:r>
            <a:r>
              <a:rPr lang="en-GB">
                <a:solidFill>
                  <a:schemeClr val="dk1"/>
                </a:solidFill>
              </a:rPr>
              <a:t> the class.</a:t>
            </a:r>
            <a:br>
              <a:rPr lang="en-GB">
                <a:solidFill>
                  <a:schemeClr val="dk1"/>
                </a:solidFill>
              </a:rPr>
            </a:br>
            <a:r>
              <a:rPr lang="en-GB">
                <a:solidFill>
                  <a:schemeClr val="dk1"/>
                </a:solidFill>
              </a:rPr>
              <a:t> This shows encapsulation, because the logic and data that belong together stay together.”</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“Other classes simply call </a:t>
            </a:r>
            <a:r>
              <a:rPr lang="en-GB">
                <a:solidFill>
                  <a:srgbClr val="188038"/>
                </a:solidFill>
                <a:latin typeface="Roboto Mono"/>
                <a:ea typeface="Roboto Mono"/>
                <a:cs typeface="Roboto Mono"/>
                <a:sym typeface="Roboto Mono"/>
              </a:rPr>
              <a:t>isOpenNow()</a:t>
            </a:r>
            <a:r>
              <a:rPr lang="en-GB">
                <a:solidFill>
                  <a:schemeClr val="dk1"/>
                </a:solidFill>
              </a:rPr>
              <a:t> or </a:t>
            </a:r>
            <a:r>
              <a:rPr lang="en-GB">
                <a:solidFill>
                  <a:srgbClr val="188038"/>
                </a:solidFill>
                <a:latin typeface="Roboto Mono"/>
                <a:ea typeface="Roboto Mono"/>
                <a:cs typeface="Roboto Mono"/>
                <a:sym typeface="Roboto Mono"/>
              </a:rPr>
              <a:t>increaseConfirmed()</a:t>
            </a:r>
            <a:r>
              <a:rPr lang="en-GB">
                <a:solidFill>
                  <a:schemeClr val="dk1"/>
                </a:solidFill>
              </a:rPr>
              <a:t>, without needing to know how the rules are implemented — that’s abstraction.”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 5️⃣ Wrap Up with the Advantages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short, encapsulation and abstraction make our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More </a:t>
            </a:r>
            <a:r>
              <a:rPr b="1" lang="en-GB">
                <a:solidFill>
                  <a:schemeClr val="dk1"/>
                </a:solidFill>
              </a:rPr>
              <a:t>secure</a:t>
            </a:r>
            <a:r>
              <a:rPr lang="en-GB">
                <a:solidFill>
                  <a:schemeClr val="dk1"/>
                </a:solidFill>
              </a:rPr>
              <a:t>, since data isn’t exposed directly.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More </a:t>
            </a:r>
            <a:r>
              <a:rPr b="1" lang="en-GB">
                <a:solidFill>
                  <a:schemeClr val="dk1"/>
                </a:solidFill>
              </a:rPr>
              <a:t>reliable</a:t>
            </a:r>
            <a:r>
              <a:rPr lang="en-GB">
                <a:solidFill>
                  <a:schemeClr val="dk1"/>
                </a:solidFill>
              </a:rPr>
              <a:t>, since rules are always checked inside the class.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more </a:t>
            </a:r>
            <a:r>
              <a:rPr b="1" lang="en-GB">
                <a:solidFill>
                  <a:schemeClr val="dk1"/>
                </a:solidFill>
              </a:rPr>
              <a:t>maintainable</a:t>
            </a:r>
            <a:r>
              <a:rPr lang="en-GB">
                <a:solidFill>
                  <a:schemeClr val="dk1"/>
                </a:solidFill>
              </a:rPr>
              <a:t>, because the logic is reusable and isolated.”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9780f76bd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99780f76bd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0.png"/><Relationship Id="rId4" Type="http://schemas.openxmlformats.org/officeDocument/2006/relationships/image" Target="../media/image32.png"/><Relationship Id="rId5"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7.png"/><Relationship Id="rId4" Type="http://schemas.openxmlformats.org/officeDocument/2006/relationships/image" Target="../media/image3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5.png"/><Relationship Id="rId4" Type="http://schemas.openxmlformats.org/officeDocument/2006/relationships/image" Target="../media/image44.png"/><Relationship Id="rId5"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22.png"/><Relationship Id="rId6"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1.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2.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601550" y="8147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lt2"/>
                </a:solidFill>
              </a:rPr>
              <a:t>CT2003 Group 1  Presentation</a:t>
            </a:r>
            <a:endParaRPr b="1">
              <a:solidFill>
                <a:schemeClr val="lt2"/>
              </a:solidFill>
            </a:endParaRPr>
          </a:p>
        </p:txBody>
      </p:sp>
      <p:sp>
        <p:nvSpPr>
          <p:cNvPr id="135" name="Google Shape;135;p13"/>
          <p:cNvSpPr txBox="1"/>
          <p:nvPr>
            <p:ph idx="4294967295" type="body"/>
          </p:nvPr>
        </p:nvSpPr>
        <p:spPr>
          <a:xfrm>
            <a:off x="3681675" y="2393600"/>
            <a:ext cx="4885500" cy="205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000">
                <a:latin typeface="Arial"/>
                <a:ea typeface="Arial"/>
                <a:cs typeface="Arial"/>
                <a:sym typeface="Arial"/>
              </a:rPr>
              <a:t>Presented By:</a:t>
            </a:r>
            <a:endParaRPr sz="1000">
              <a:latin typeface="Arial"/>
              <a:ea typeface="Arial"/>
              <a:cs typeface="Arial"/>
              <a:sym typeface="Arial"/>
            </a:endParaRPr>
          </a:p>
          <a:p>
            <a:pPr indent="0" lvl="0" marL="0" rtl="0" algn="l">
              <a:spcBef>
                <a:spcPts val="1200"/>
              </a:spcBef>
              <a:spcAft>
                <a:spcPts val="0"/>
              </a:spcAft>
              <a:buNone/>
            </a:pPr>
            <a:r>
              <a:rPr lang="en-GB" sz="1000">
                <a:latin typeface="Arial"/>
                <a:ea typeface="Arial"/>
                <a:cs typeface="Arial"/>
                <a:sym typeface="Arial"/>
              </a:rPr>
              <a:t>AARON LIM JING KAI</a:t>
            </a:r>
            <a:endParaRPr sz="1000">
              <a:latin typeface="Arial"/>
              <a:ea typeface="Arial"/>
              <a:cs typeface="Arial"/>
              <a:sym typeface="Arial"/>
            </a:endParaRPr>
          </a:p>
          <a:p>
            <a:pPr indent="0" lvl="0" marL="0" rtl="0" algn="l">
              <a:spcBef>
                <a:spcPts val="1200"/>
              </a:spcBef>
              <a:spcAft>
                <a:spcPts val="0"/>
              </a:spcAft>
              <a:buNone/>
            </a:pPr>
            <a:r>
              <a:rPr lang="en-GB" sz="1000">
                <a:latin typeface="Arial"/>
                <a:ea typeface="Arial"/>
                <a:cs typeface="Arial"/>
                <a:sym typeface="Arial"/>
              </a:rPr>
              <a:t>ANG WEE HWA</a:t>
            </a:r>
            <a:endParaRPr sz="1000">
              <a:latin typeface="Arial"/>
              <a:ea typeface="Arial"/>
              <a:cs typeface="Arial"/>
              <a:sym typeface="Arial"/>
            </a:endParaRPr>
          </a:p>
          <a:p>
            <a:pPr indent="0" lvl="0" marL="0" rtl="0" algn="l">
              <a:spcBef>
                <a:spcPts val="1200"/>
              </a:spcBef>
              <a:spcAft>
                <a:spcPts val="0"/>
              </a:spcAft>
              <a:buNone/>
            </a:pPr>
            <a:r>
              <a:rPr lang="en-GB" sz="1000">
                <a:latin typeface="Arial"/>
                <a:ea typeface="Arial"/>
                <a:cs typeface="Arial"/>
                <a:sym typeface="Arial"/>
              </a:rPr>
              <a:t>AQILA BINTE MOHAMED JAHBAR GANI</a:t>
            </a:r>
            <a:endParaRPr sz="1000">
              <a:latin typeface="Arial"/>
              <a:ea typeface="Arial"/>
              <a:cs typeface="Arial"/>
              <a:sym typeface="Arial"/>
            </a:endParaRPr>
          </a:p>
          <a:p>
            <a:pPr indent="0" lvl="0" marL="0" rtl="0" algn="l">
              <a:spcBef>
                <a:spcPts val="1200"/>
              </a:spcBef>
              <a:spcAft>
                <a:spcPts val="0"/>
              </a:spcAft>
              <a:buNone/>
            </a:pPr>
            <a:r>
              <a:rPr lang="en-GB" sz="1000">
                <a:latin typeface="Arial"/>
                <a:ea typeface="Arial"/>
                <a:cs typeface="Arial"/>
                <a:sym typeface="Arial"/>
              </a:rPr>
              <a:t>BOWEN YIP WEI DE</a:t>
            </a:r>
            <a:endParaRPr sz="1000">
              <a:latin typeface="Arial"/>
              <a:ea typeface="Arial"/>
              <a:cs typeface="Arial"/>
              <a:sym typeface="Arial"/>
            </a:endParaRPr>
          </a:p>
          <a:p>
            <a:pPr indent="0" lvl="0" marL="0" rtl="0" algn="l">
              <a:spcBef>
                <a:spcPts val="1200"/>
              </a:spcBef>
              <a:spcAft>
                <a:spcPts val="1200"/>
              </a:spcAft>
              <a:buNone/>
            </a:pPr>
            <a:r>
              <a:rPr lang="en-GB" sz="1000">
                <a:latin typeface="Arial"/>
                <a:ea typeface="Arial"/>
                <a:cs typeface="Arial"/>
                <a:sym typeface="Arial"/>
              </a:rPr>
              <a:t>CHUA ZHEN YUN SERAPHINA</a:t>
            </a:r>
            <a:endParaRPr sz="10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ctrTitle"/>
          </p:nvPr>
        </p:nvSpPr>
        <p:spPr>
          <a:xfrm>
            <a:off x="3537150" y="170600"/>
            <a:ext cx="5202300" cy="699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Table of Content:</a:t>
            </a:r>
            <a:endParaRPr b="1">
              <a:solidFill>
                <a:schemeClr val="lt2"/>
              </a:solidFill>
            </a:endParaRPr>
          </a:p>
        </p:txBody>
      </p:sp>
      <p:sp>
        <p:nvSpPr>
          <p:cNvPr id="141" name="Google Shape;141;p14"/>
          <p:cNvSpPr txBox="1"/>
          <p:nvPr>
            <p:ph idx="1" type="subTitle"/>
          </p:nvPr>
        </p:nvSpPr>
        <p:spPr>
          <a:xfrm>
            <a:off x="3661325" y="870500"/>
            <a:ext cx="5202300" cy="3942300"/>
          </a:xfrm>
          <a:prstGeom prst="rect">
            <a:avLst/>
          </a:prstGeom>
        </p:spPr>
        <p:txBody>
          <a:bodyPr anchorCtr="0" anchor="t" bIns="91425" lIns="91425" spcFirstLastPara="1" rIns="91425" wrap="square" tIns="91425">
            <a:normAutofit lnSpcReduction="10000"/>
          </a:bodyPr>
          <a:lstStyle/>
          <a:p>
            <a:pPr indent="-311150" lvl="0" marL="457200" rtl="0" algn="l">
              <a:lnSpc>
                <a:spcPct val="150000"/>
              </a:lnSpc>
              <a:spcBef>
                <a:spcPts val="0"/>
              </a:spcBef>
              <a:spcAft>
                <a:spcPts val="0"/>
              </a:spcAft>
              <a:buSzPts val="1300"/>
              <a:buFont typeface="Arial"/>
              <a:buAutoNum type="arabicPeriod"/>
            </a:pPr>
            <a:r>
              <a:rPr b="1" lang="en-GB">
                <a:latin typeface="Arial"/>
                <a:ea typeface="Arial"/>
                <a:cs typeface="Arial"/>
                <a:sym typeface="Arial"/>
              </a:rPr>
              <a:t>Design Principles (SOLID)</a:t>
            </a:r>
            <a:endParaRPr b="1">
              <a:latin typeface="Arial"/>
              <a:ea typeface="Arial"/>
              <a:cs typeface="Arial"/>
              <a:sym typeface="Arial"/>
            </a:endParaRPr>
          </a:p>
          <a:p>
            <a:pPr indent="-311150" lvl="1" marL="914400" rtl="0" algn="l">
              <a:lnSpc>
                <a:spcPct val="150000"/>
              </a:lnSpc>
              <a:spcBef>
                <a:spcPts val="0"/>
              </a:spcBef>
              <a:spcAft>
                <a:spcPts val="0"/>
              </a:spcAft>
              <a:buSzPts val="1300"/>
              <a:buFont typeface="Arial"/>
              <a:buChar char="●"/>
            </a:pPr>
            <a:r>
              <a:rPr b="1" lang="en-GB">
                <a:latin typeface="Arial"/>
                <a:ea typeface="Arial"/>
                <a:cs typeface="Arial"/>
                <a:sym typeface="Arial"/>
              </a:rPr>
              <a:t>Examples of Violation in Original Version</a:t>
            </a:r>
            <a:endParaRPr b="1">
              <a:latin typeface="Arial"/>
              <a:ea typeface="Arial"/>
              <a:cs typeface="Arial"/>
              <a:sym typeface="Arial"/>
            </a:endParaRPr>
          </a:p>
          <a:p>
            <a:pPr indent="-311150" lvl="1" marL="914400" rtl="0" algn="l">
              <a:lnSpc>
                <a:spcPct val="150000"/>
              </a:lnSpc>
              <a:spcBef>
                <a:spcPts val="0"/>
              </a:spcBef>
              <a:spcAft>
                <a:spcPts val="0"/>
              </a:spcAft>
              <a:buSzPts val="1300"/>
              <a:buFont typeface="Arial"/>
              <a:buChar char="●"/>
            </a:pPr>
            <a:r>
              <a:rPr b="1" lang="en-GB">
                <a:latin typeface="Arial"/>
                <a:ea typeface="Arial"/>
                <a:cs typeface="Arial"/>
                <a:sym typeface="Arial"/>
              </a:rPr>
              <a:t>Proposed Solution</a:t>
            </a:r>
            <a:endParaRPr b="1">
              <a:latin typeface="Arial"/>
              <a:ea typeface="Arial"/>
              <a:cs typeface="Arial"/>
              <a:sym typeface="Arial"/>
            </a:endParaRPr>
          </a:p>
          <a:p>
            <a:pPr indent="-311150" lvl="1" marL="914400" rtl="0" algn="l">
              <a:lnSpc>
                <a:spcPct val="150000"/>
              </a:lnSpc>
              <a:spcBef>
                <a:spcPts val="0"/>
              </a:spcBef>
              <a:spcAft>
                <a:spcPts val="0"/>
              </a:spcAft>
              <a:buSzPts val="1300"/>
              <a:buFont typeface="Arial"/>
              <a:buChar char="●"/>
            </a:pPr>
            <a:r>
              <a:rPr b="1" lang="en-GB">
                <a:latin typeface="Arial"/>
                <a:ea typeface="Arial"/>
                <a:cs typeface="Arial"/>
                <a:sym typeface="Arial"/>
              </a:rPr>
              <a:t>Advantages of the Change</a:t>
            </a:r>
            <a:endParaRPr b="1">
              <a:latin typeface="Arial"/>
              <a:ea typeface="Arial"/>
              <a:cs typeface="Arial"/>
              <a:sym typeface="Arial"/>
            </a:endParaRPr>
          </a:p>
          <a:p>
            <a:pPr indent="-311150" lvl="0" marL="457200" rtl="0" algn="l">
              <a:lnSpc>
                <a:spcPct val="150000"/>
              </a:lnSpc>
              <a:spcBef>
                <a:spcPts val="0"/>
              </a:spcBef>
              <a:spcAft>
                <a:spcPts val="0"/>
              </a:spcAft>
              <a:buSzPts val="1300"/>
              <a:buFont typeface="Arial"/>
              <a:buAutoNum type="arabicPeriod"/>
            </a:pPr>
            <a:r>
              <a:rPr b="1" lang="en-GB">
                <a:latin typeface="Arial"/>
                <a:ea typeface="Arial"/>
                <a:cs typeface="Arial"/>
                <a:sym typeface="Arial"/>
              </a:rPr>
              <a:t>Usage of OOP Concepts</a:t>
            </a:r>
            <a:endParaRPr b="1">
              <a:latin typeface="Arial"/>
              <a:ea typeface="Arial"/>
              <a:cs typeface="Arial"/>
              <a:sym typeface="Arial"/>
            </a:endParaRPr>
          </a:p>
          <a:p>
            <a:pPr indent="-311150" lvl="1" marL="914400" rtl="0" algn="l">
              <a:lnSpc>
                <a:spcPct val="150000"/>
              </a:lnSpc>
              <a:spcBef>
                <a:spcPts val="0"/>
              </a:spcBef>
              <a:spcAft>
                <a:spcPts val="0"/>
              </a:spcAft>
              <a:buSzPts val="1300"/>
              <a:buFont typeface="Arial"/>
              <a:buChar char="●"/>
            </a:pPr>
            <a:r>
              <a:rPr b="1" lang="en-GB">
                <a:latin typeface="Arial"/>
                <a:ea typeface="Arial"/>
                <a:cs typeface="Arial"/>
                <a:sym typeface="Arial"/>
              </a:rPr>
              <a:t>Encapsulation and Abstraction</a:t>
            </a:r>
            <a:endParaRPr b="1">
              <a:latin typeface="Arial"/>
              <a:ea typeface="Arial"/>
              <a:cs typeface="Arial"/>
              <a:sym typeface="Arial"/>
            </a:endParaRPr>
          </a:p>
          <a:p>
            <a:pPr indent="-311150" lvl="1" marL="914400" rtl="0" algn="l">
              <a:lnSpc>
                <a:spcPct val="150000"/>
              </a:lnSpc>
              <a:spcBef>
                <a:spcPts val="0"/>
              </a:spcBef>
              <a:spcAft>
                <a:spcPts val="0"/>
              </a:spcAft>
              <a:buSzPts val="1300"/>
              <a:buFont typeface="Arial"/>
              <a:buChar char="●"/>
            </a:pPr>
            <a:r>
              <a:rPr b="1" lang="en-GB">
                <a:latin typeface="Arial"/>
                <a:ea typeface="Arial"/>
                <a:cs typeface="Arial"/>
                <a:sym typeface="Arial"/>
              </a:rPr>
              <a:t>Inheritance &amp; Method Overriding</a:t>
            </a:r>
            <a:endParaRPr b="1">
              <a:latin typeface="Arial"/>
              <a:ea typeface="Arial"/>
              <a:cs typeface="Arial"/>
              <a:sym typeface="Arial"/>
            </a:endParaRPr>
          </a:p>
          <a:p>
            <a:pPr indent="-311150" lvl="1" marL="914400" rtl="0" algn="l">
              <a:lnSpc>
                <a:spcPct val="150000"/>
              </a:lnSpc>
              <a:spcBef>
                <a:spcPts val="0"/>
              </a:spcBef>
              <a:spcAft>
                <a:spcPts val="0"/>
              </a:spcAft>
              <a:buSzPts val="1300"/>
              <a:buFont typeface="Arial"/>
              <a:buChar char="●"/>
            </a:pPr>
            <a:r>
              <a:rPr b="1" lang="en-GB">
                <a:latin typeface="Arial"/>
                <a:ea typeface="Arial"/>
                <a:cs typeface="Arial"/>
                <a:sym typeface="Arial"/>
              </a:rPr>
              <a:t>Polymorphism</a:t>
            </a:r>
            <a:endParaRPr b="1">
              <a:latin typeface="Arial"/>
              <a:ea typeface="Arial"/>
              <a:cs typeface="Arial"/>
              <a:sym typeface="Arial"/>
            </a:endParaRPr>
          </a:p>
          <a:p>
            <a:pPr indent="-311150" lvl="1" marL="914400" rtl="0" algn="l">
              <a:lnSpc>
                <a:spcPct val="150000"/>
              </a:lnSpc>
              <a:spcBef>
                <a:spcPts val="0"/>
              </a:spcBef>
              <a:spcAft>
                <a:spcPts val="0"/>
              </a:spcAft>
              <a:buSzPts val="1300"/>
              <a:buFont typeface="Arial"/>
              <a:buChar char="●"/>
            </a:pPr>
            <a:r>
              <a:rPr b="1" lang="en-GB">
                <a:latin typeface="Arial"/>
                <a:ea typeface="Arial"/>
                <a:cs typeface="Arial"/>
                <a:sym typeface="Arial"/>
              </a:rPr>
              <a:t>Exception Handling</a:t>
            </a:r>
            <a:endParaRPr b="1">
              <a:latin typeface="Arial"/>
              <a:ea typeface="Arial"/>
              <a:cs typeface="Arial"/>
              <a:sym typeface="Arial"/>
            </a:endParaRPr>
          </a:p>
          <a:p>
            <a:pPr indent="-311150" lvl="0" marL="457200" rtl="0" algn="l">
              <a:lnSpc>
                <a:spcPct val="150000"/>
              </a:lnSpc>
              <a:spcBef>
                <a:spcPts val="0"/>
              </a:spcBef>
              <a:spcAft>
                <a:spcPts val="0"/>
              </a:spcAft>
              <a:buSzPts val="1300"/>
              <a:buFont typeface="Arial"/>
              <a:buAutoNum type="arabicPeriod"/>
            </a:pPr>
            <a:r>
              <a:rPr b="1" lang="en-GB">
                <a:latin typeface="Arial"/>
                <a:ea typeface="Arial"/>
                <a:cs typeface="Arial"/>
                <a:sym typeface="Arial"/>
              </a:rPr>
              <a:t>Reusability, Maintainability and Extensibility </a:t>
            </a:r>
            <a:endParaRPr b="1">
              <a:latin typeface="Arial"/>
              <a:ea typeface="Arial"/>
              <a:cs typeface="Arial"/>
              <a:sym typeface="Arial"/>
            </a:endParaRPr>
          </a:p>
          <a:p>
            <a:pPr indent="-311150" lvl="0" marL="457200" rtl="0" algn="l">
              <a:lnSpc>
                <a:spcPct val="150000"/>
              </a:lnSpc>
              <a:spcBef>
                <a:spcPts val="0"/>
              </a:spcBef>
              <a:spcAft>
                <a:spcPts val="0"/>
              </a:spcAft>
              <a:buSzPts val="1300"/>
              <a:buFont typeface="Arial"/>
              <a:buAutoNum type="arabicPeriod"/>
            </a:pPr>
            <a:r>
              <a:rPr b="1" lang="en-GB">
                <a:latin typeface="Arial"/>
                <a:ea typeface="Arial"/>
                <a:cs typeface="Arial"/>
                <a:sym typeface="Arial"/>
              </a:rPr>
              <a:t>Additional Feature - “Student’s Appeal” Demo</a:t>
            </a:r>
            <a:endParaRPr b="1">
              <a:latin typeface="Arial"/>
              <a:ea typeface="Arial"/>
              <a:cs typeface="Arial"/>
              <a:sym typeface="Arial"/>
            </a:endParaRPr>
          </a:p>
          <a:p>
            <a:pPr indent="-311150" lvl="0" marL="457200" rtl="0" algn="l">
              <a:lnSpc>
                <a:spcPct val="150000"/>
              </a:lnSpc>
              <a:spcBef>
                <a:spcPts val="0"/>
              </a:spcBef>
              <a:spcAft>
                <a:spcPts val="0"/>
              </a:spcAft>
              <a:buSzPts val="1300"/>
              <a:buFont typeface="Arial"/>
              <a:buAutoNum type="arabicPeriod"/>
            </a:pPr>
            <a:r>
              <a:rPr b="1" lang="en-GB">
                <a:latin typeface="Arial"/>
                <a:ea typeface="Arial"/>
                <a:cs typeface="Arial"/>
                <a:sym typeface="Arial"/>
              </a:rPr>
              <a:t>Frontend GUI Demo</a:t>
            </a:r>
            <a:endParaRPr b="1">
              <a:latin typeface="Arial"/>
              <a:ea typeface="Arial"/>
              <a:cs typeface="Arial"/>
              <a:sym typeface="Arial"/>
            </a:endParaRPr>
          </a:p>
          <a:p>
            <a:pPr indent="-311150" lvl="0" marL="457200" rtl="0" algn="l">
              <a:lnSpc>
                <a:spcPct val="150000"/>
              </a:lnSpc>
              <a:spcBef>
                <a:spcPts val="0"/>
              </a:spcBef>
              <a:spcAft>
                <a:spcPts val="0"/>
              </a:spcAft>
              <a:buSzPts val="1300"/>
              <a:buFont typeface="Arial"/>
              <a:buAutoNum type="arabicPeriod"/>
            </a:pPr>
            <a:r>
              <a:rPr b="1" lang="en-GB">
                <a:latin typeface="Arial"/>
                <a:ea typeface="Arial"/>
                <a:cs typeface="Arial"/>
                <a:sym typeface="Arial"/>
              </a:rPr>
              <a:t>Q&amp;A</a:t>
            </a:r>
            <a:endParaRPr b="1">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597000" y="811200"/>
            <a:ext cx="46632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sz="3200">
                <a:solidFill>
                  <a:schemeClr val="lt2"/>
                </a:solidFill>
              </a:rPr>
              <a:t>THE SOLID PRINCIPLES</a:t>
            </a:r>
            <a:endParaRPr b="1" sz="3200">
              <a:solidFill>
                <a:schemeClr val="l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Single Responsibility Principle (SRP)</a:t>
            </a:r>
            <a:endParaRPr b="1">
              <a:solidFill>
                <a:schemeClr val="lt2"/>
              </a:solidFill>
            </a:endParaRPr>
          </a:p>
        </p:txBody>
      </p:sp>
      <p:sp>
        <p:nvSpPr>
          <p:cNvPr id="152" name="Google Shape;152;p16"/>
          <p:cNvSpPr txBox="1"/>
          <p:nvPr>
            <p:ph idx="1" type="body"/>
          </p:nvPr>
        </p:nvSpPr>
        <p:spPr>
          <a:xfrm>
            <a:off x="1070662" y="1150375"/>
            <a:ext cx="7038900" cy="38373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GB" sz="1100">
                <a:latin typeface="Arial"/>
                <a:ea typeface="Arial"/>
                <a:cs typeface="Arial"/>
                <a:sym typeface="Arial"/>
              </a:rPr>
              <a:t>A single God class UserService </a:t>
            </a:r>
            <a:r>
              <a:rPr lang="en-GB" sz="1100">
                <a:latin typeface="Arial"/>
                <a:ea typeface="Arial"/>
                <a:cs typeface="Arial"/>
                <a:sym typeface="Arial"/>
              </a:rPr>
              <a:t>that handles anything from user authentication, processing applications and opportunities and even reading/writing CVS.</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Violation in Original Version:</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UserService (Authentication Service)</a:t>
            </a:r>
            <a:endParaRPr sz="1100">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298450" lvl="0" marL="914400" rtl="0" algn="just">
              <a:lnSpc>
                <a:spcPct val="150000"/>
              </a:lnSpc>
              <a:spcBef>
                <a:spcPts val="0"/>
              </a:spcBef>
              <a:spcAft>
                <a:spcPts val="0"/>
              </a:spcAft>
              <a:buSzPts val="1100"/>
              <a:buFont typeface="Arial"/>
              <a:buChar char="○"/>
            </a:pPr>
            <a:r>
              <a:rPr lang="en-GB" sz="1100">
                <a:latin typeface="Arial"/>
                <a:ea typeface="Arial"/>
                <a:cs typeface="Arial"/>
                <a:sym typeface="Arial"/>
              </a:rPr>
              <a:t>UserService (CVS Persistence Service)</a:t>
            </a:r>
            <a:endParaRPr sz="1200">
              <a:solidFill>
                <a:srgbClr val="000000"/>
              </a:solidFill>
              <a:latin typeface="Times New Roman"/>
              <a:ea typeface="Times New Roman"/>
              <a:cs typeface="Times New Roman"/>
              <a:sym typeface="Times New Roman"/>
            </a:endParaRPr>
          </a:p>
          <a:p>
            <a:pPr indent="0" lvl="0" marL="914400" rtl="0" algn="just">
              <a:lnSpc>
                <a:spcPct val="150000"/>
              </a:lnSpc>
              <a:spcBef>
                <a:spcPts val="0"/>
              </a:spcBef>
              <a:spcAft>
                <a:spcPts val="0"/>
              </a:spcAft>
              <a:buNone/>
            </a:pPr>
            <a:r>
              <a:t/>
            </a:r>
            <a:endParaRPr sz="1200">
              <a:solidFill>
                <a:srgbClr val="000000"/>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1200">
              <a:solidFill>
                <a:srgbClr val="000000"/>
              </a:solidFill>
              <a:latin typeface="Times New Roman"/>
              <a:ea typeface="Times New Roman"/>
              <a:cs typeface="Times New Roman"/>
              <a:sym typeface="Times New Roman"/>
            </a:endParaRPr>
          </a:p>
          <a:p>
            <a:pPr indent="-298450" lvl="0" marL="914400" rtl="0" algn="just">
              <a:lnSpc>
                <a:spcPct val="150000"/>
              </a:lnSpc>
              <a:spcBef>
                <a:spcPts val="0"/>
              </a:spcBef>
              <a:spcAft>
                <a:spcPts val="0"/>
              </a:spcAft>
              <a:buSzPts val="1100"/>
              <a:buFont typeface="Arial"/>
              <a:buChar char="○"/>
            </a:pPr>
            <a:r>
              <a:rPr lang="en-GB" sz="1100">
                <a:latin typeface="Arial"/>
                <a:ea typeface="Arial"/>
                <a:cs typeface="Arial"/>
                <a:sym typeface="Arial"/>
              </a:rPr>
              <a:t>UserService (Applications/Opportunities Processing)</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91440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0" rtl="0" algn="just">
              <a:lnSpc>
                <a:spcPct val="150000"/>
              </a:lnSpc>
              <a:spcBef>
                <a:spcPts val="0"/>
              </a:spcBef>
              <a:spcAft>
                <a:spcPts val="0"/>
              </a:spcAft>
              <a:buNone/>
            </a:pPr>
            <a:r>
              <a:t/>
            </a:r>
            <a:endParaRPr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p:txBody>
      </p:sp>
      <p:pic>
        <p:nvPicPr>
          <p:cNvPr id="153" name="Google Shape;153;p16"/>
          <p:cNvPicPr preferRelativeResize="0"/>
          <p:nvPr/>
        </p:nvPicPr>
        <p:blipFill>
          <a:blip r:embed="rId3">
            <a:alphaModFix/>
          </a:blip>
          <a:stretch>
            <a:fillRect/>
          </a:stretch>
        </p:blipFill>
        <p:spPr>
          <a:xfrm>
            <a:off x="5410350" y="1818775"/>
            <a:ext cx="1874950" cy="986350"/>
          </a:xfrm>
          <a:prstGeom prst="rect">
            <a:avLst/>
          </a:prstGeom>
          <a:noFill/>
          <a:ln>
            <a:noFill/>
          </a:ln>
        </p:spPr>
      </p:pic>
      <p:pic>
        <p:nvPicPr>
          <p:cNvPr id="154" name="Google Shape;154;p16"/>
          <p:cNvPicPr preferRelativeResize="0"/>
          <p:nvPr/>
        </p:nvPicPr>
        <p:blipFill>
          <a:blip r:embed="rId4">
            <a:alphaModFix/>
          </a:blip>
          <a:stretch>
            <a:fillRect/>
          </a:stretch>
        </p:blipFill>
        <p:spPr>
          <a:xfrm>
            <a:off x="5410350" y="3767274"/>
            <a:ext cx="2355650" cy="1134825"/>
          </a:xfrm>
          <a:prstGeom prst="rect">
            <a:avLst/>
          </a:prstGeom>
          <a:noFill/>
          <a:ln>
            <a:noFill/>
          </a:ln>
        </p:spPr>
      </p:pic>
      <p:pic>
        <p:nvPicPr>
          <p:cNvPr id="155" name="Google Shape;155;p16"/>
          <p:cNvPicPr preferRelativeResize="0"/>
          <p:nvPr/>
        </p:nvPicPr>
        <p:blipFill>
          <a:blip r:embed="rId5">
            <a:alphaModFix/>
          </a:blip>
          <a:stretch>
            <a:fillRect/>
          </a:stretch>
        </p:blipFill>
        <p:spPr>
          <a:xfrm>
            <a:off x="5410350" y="2861724"/>
            <a:ext cx="2448550" cy="848950"/>
          </a:xfrm>
          <a:prstGeom prst="rect">
            <a:avLst/>
          </a:prstGeom>
          <a:noFill/>
          <a:ln>
            <a:noFill/>
          </a:ln>
        </p:spPr>
      </p:pic>
      <p:sp>
        <p:nvSpPr>
          <p:cNvPr id="156" name="Google Shape;156;p16"/>
          <p:cNvSpPr/>
          <p:nvPr/>
        </p:nvSpPr>
        <p:spPr>
          <a:xfrm>
            <a:off x="3968475" y="337975"/>
            <a:ext cx="304426" cy="439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Single Responsibility Principle (SRP)</a:t>
            </a:r>
            <a:endParaRPr b="1">
              <a:solidFill>
                <a:schemeClr val="lt2"/>
              </a:solidFill>
            </a:endParaRPr>
          </a:p>
        </p:txBody>
      </p:sp>
      <p:sp>
        <p:nvSpPr>
          <p:cNvPr id="162" name="Google Shape;162;p17"/>
          <p:cNvSpPr txBox="1"/>
          <p:nvPr>
            <p:ph idx="1" type="body"/>
          </p:nvPr>
        </p:nvSpPr>
        <p:spPr>
          <a:xfrm>
            <a:off x="1086025" y="1163825"/>
            <a:ext cx="7038900" cy="38622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b="1" lang="en-GB" sz="1100">
                <a:latin typeface="Arial"/>
                <a:ea typeface="Arial"/>
                <a:cs typeface="Arial"/>
                <a:sym typeface="Arial"/>
              </a:rPr>
              <a:t>Solution:</a:t>
            </a:r>
            <a:endParaRPr b="1" sz="1100">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b="1" lang="en-GB" sz="1100">
                <a:latin typeface="Arial"/>
                <a:ea typeface="Arial"/>
                <a:cs typeface="Arial"/>
                <a:sym typeface="Arial"/>
              </a:rPr>
              <a:t>UI / CLI Layer</a:t>
            </a:r>
            <a:endParaRPr b="1" sz="1100">
              <a:latin typeface="Arial"/>
              <a:ea typeface="Arial"/>
              <a:cs typeface="Arial"/>
              <a:sym typeface="Arial"/>
            </a:endParaRPr>
          </a:p>
          <a:p>
            <a:pPr indent="-298450" lvl="2" marL="1371600" rtl="0" algn="l">
              <a:lnSpc>
                <a:spcPct val="100000"/>
              </a:lnSpc>
              <a:spcBef>
                <a:spcPts val="0"/>
              </a:spcBef>
              <a:spcAft>
                <a:spcPts val="0"/>
              </a:spcAft>
              <a:buSzPts val="1100"/>
              <a:buFont typeface="Arial"/>
              <a:buChar char="■"/>
            </a:pPr>
            <a:r>
              <a:rPr lang="en-GB">
                <a:latin typeface="Arial"/>
                <a:ea typeface="Arial"/>
                <a:cs typeface="Arial"/>
                <a:sym typeface="Arial"/>
              </a:rPr>
              <a:t>Menus like StudentMenu, CompanyRepMenu, etc.</a:t>
            </a:r>
            <a:endParaRPr>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b="1" lang="en-GB" sz="1100">
                <a:latin typeface="Arial"/>
                <a:ea typeface="Arial"/>
                <a:cs typeface="Arial"/>
                <a:sym typeface="Arial"/>
              </a:rPr>
              <a:t>Domain Services</a:t>
            </a:r>
            <a:endParaRPr b="1" sz="1100">
              <a:latin typeface="Arial"/>
              <a:ea typeface="Arial"/>
              <a:cs typeface="Arial"/>
              <a:sym typeface="Arial"/>
            </a:endParaRPr>
          </a:p>
          <a:p>
            <a:pPr indent="-298450" lvl="2" marL="1371600" rtl="0" algn="l">
              <a:lnSpc>
                <a:spcPct val="100000"/>
              </a:lnSpc>
              <a:spcBef>
                <a:spcPts val="0"/>
              </a:spcBef>
              <a:spcAft>
                <a:spcPts val="0"/>
              </a:spcAft>
              <a:buSzPts val="1100"/>
              <a:buFont typeface="Arial"/>
              <a:buChar char="■"/>
            </a:pPr>
            <a:r>
              <a:rPr lang="en-GB">
                <a:latin typeface="Arial"/>
                <a:ea typeface="Arial"/>
                <a:cs typeface="Arial"/>
                <a:sym typeface="Arial"/>
              </a:rPr>
              <a:t>AuthService (login, approve)</a:t>
            </a:r>
            <a:endParaRPr>
              <a:latin typeface="Arial"/>
              <a:ea typeface="Arial"/>
              <a:cs typeface="Arial"/>
              <a:sym typeface="Arial"/>
            </a:endParaRPr>
          </a:p>
          <a:p>
            <a:pPr indent="-298450" lvl="2" marL="1371600" rtl="0" algn="l">
              <a:lnSpc>
                <a:spcPct val="100000"/>
              </a:lnSpc>
              <a:spcBef>
                <a:spcPts val="0"/>
              </a:spcBef>
              <a:spcAft>
                <a:spcPts val="0"/>
              </a:spcAft>
              <a:buSzPts val="1100"/>
              <a:buFont typeface="Arial"/>
              <a:buChar char="■"/>
            </a:pPr>
            <a:r>
              <a:rPr lang="en-GB">
                <a:latin typeface="Arial"/>
                <a:ea typeface="Arial"/>
                <a:cs typeface="Arial"/>
                <a:sym typeface="Arial"/>
              </a:rPr>
              <a:t>PortalService (create, apply, appeal)</a:t>
            </a:r>
            <a:endParaRPr>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b="1" lang="en-GB" sz="1100">
                <a:latin typeface="Arial"/>
                <a:ea typeface="Arial"/>
                <a:cs typeface="Arial"/>
                <a:sym typeface="Arial"/>
              </a:rPr>
              <a:t>Persistence Helpers</a:t>
            </a:r>
            <a:endParaRPr b="1" sz="1100">
              <a:latin typeface="Arial"/>
              <a:ea typeface="Arial"/>
              <a:cs typeface="Arial"/>
              <a:sym typeface="Arial"/>
            </a:endParaRPr>
          </a:p>
          <a:p>
            <a:pPr indent="-298450" lvl="2" marL="1371600" rtl="0" algn="l">
              <a:lnSpc>
                <a:spcPct val="100000"/>
              </a:lnSpc>
              <a:spcBef>
                <a:spcPts val="0"/>
              </a:spcBef>
              <a:spcAft>
                <a:spcPts val="0"/>
              </a:spcAft>
              <a:buSzPts val="1100"/>
              <a:buFont typeface="Arial"/>
              <a:buChar char="■"/>
            </a:pPr>
            <a:r>
              <a:rPr lang="en-GB">
                <a:latin typeface="Arial"/>
                <a:ea typeface="Arial"/>
                <a:cs typeface="Arial"/>
                <a:sym typeface="Arial"/>
              </a:rPr>
              <a:t>CsvUt</a:t>
            </a:r>
            <a:r>
              <a:rPr lang="en-GB">
                <a:latin typeface="Arial"/>
                <a:ea typeface="Arial"/>
                <a:cs typeface="Arial"/>
                <a:sym typeface="Arial"/>
              </a:rPr>
              <a:t>i</a:t>
            </a:r>
            <a:r>
              <a:rPr lang="en-GB">
                <a:latin typeface="Arial"/>
                <a:ea typeface="Arial"/>
                <a:cs typeface="Arial"/>
                <a:sym typeface="Arial"/>
              </a:rPr>
              <a:t>l, OppAppCsv, PreferenceService</a:t>
            </a:r>
            <a:endParaRPr>
              <a:latin typeface="Arial"/>
              <a:ea typeface="Arial"/>
              <a:cs typeface="Arial"/>
              <a:sym typeface="Arial"/>
            </a:endParaRPr>
          </a:p>
          <a:p>
            <a:pPr indent="0" lvl="0" marL="0" rtl="0" algn="l">
              <a:lnSpc>
                <a:spcPct val="100000"/>
              </a:lnSpc>
              <a:spcBef>
                <a:spcPts val="1200"/>
              </a:spcBef>
              <a:spcAft>
                <a:spcPts val="0"/>
              </a:spcAft>
              <a:buNone/>
            </a:pPr>
            <a:r>
              <a:t/>
            </a:r>
            <a:endParaRPr sz="1100">
              <a:latin typeface="Arial"/>
              <a:ea typeface="Arial"/>
              <a:cs typeface="Arial"/>
              <a:sym typeface="Arial"/>
            </a:endParaRPr>
          </a:p>
          <a:p>
            <a:pPr indent="0" lvl="0" marL="0" rtl="0" algn="l">
              <a:lnSpc>
                <a:spcPct val="100000"/>
              </a:lnSpc>
              <a:spcBef>
                <a:spcPts val="1200"/>
              </a:spcBef>
              <a:spcAft>
                <a:spcPts val="0"/>
              </a:spcAft>
              <a:buNone/>
            </a:pPr>
            <a:r>
              <a:t/>
            </a:r>
            <a:endParaRPr sz="1100">
              <a:latin typeface="Arial"/>
              <a:ea typeface="Arial"/>
              <a:cs typeface="Arial"/>
              <a:sym typeface="Arial"/>
            </a:endParaRPr>
          </a:p>
          <a:p>
            <a:pPr indent="0" lvl="0" marL="0" rtl="0" algn="l">
              <a:lnSpc>
                <a:spcPct val="100000"/>
              </a:lnSpc>
              <a:spcBef>
                <a:spcPts val="1200"/>
              </a:spcBef>
              <a:spcAft>
                <a:spcPts val="0"/>
              </a:spcAft>
              <a:buNone/>
            </a:pPr>
            <a:r>
              <a:t/>
            </a:r>
            <a:endParaRPr sz="1100">
              <a:latin typeface="Arial"/>
              <a:ea typeface="Arial"/>
              <a:cs typeface="Arial"/>
              <a:sym typeface="Arial"/>
            </a:endParaRPr>
          </a:p>
          <a:p>
            <a:pPr indent="-298450" lvl="0" marL="457200" rtl="0" algn="l">
              <a:spcBef>
                <a:spcPts val="1200"/>
              </a:spcBef>
              <a:spcAft>
                <a:spcPts val="0"/>
              </a:spcAft>
              <a:buSzPts val="1100"/>
              <a:buFont typeface="Arial"/>
              <a:buChar char="●"/>
            </a:pPr>
            <a:r>
              <a:rPr b="1" lang="en-GB" sz="1100">
                <a:latin typeface="Arial"/>
                <a:ea typeface="Arial"/>
                <a:cs typeface="Arial"/>
                <a:sym typeface="Arial"/>
              </a:rPr>
              <a:t>Advantage:</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b="1" lang="en-GB" sz="1100">
                <a:latin typeface="Arial"/>
                <a:ea typeface="Arial"/>
                <a:cs typeface="Arial"/>
                <a:sym typeface="Arial"/>
              </a:rPr>
              <a:t>Change isolation:</a:t>
            </a:r>
            <a:r>
              <a:rPr lang="en-GB" sz="1100">
                <a:latin typeface="Arial"/>
                <a:ea typeface="Arial"/>
                <a:cs typeface="Arial"/>
                <a:sym typeface="Arial"/>
              </a:rPr>
              <a:t> Auth updates don’t affect CSV or portal logic.</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b="1" lang="en-GB" sz="1100">
                <a:latin typeface="Arial"/>
                <a:ea typeface="Arial"/>
                <a:cs typeface="Arial"/>
                <a:sym typeface="Arial"/>
              </a:rPr>
              <a:t>Easier technology swap:</a:t>
            </a:r>
            <a:r>
              <a:rPr lang="en-GB" sz="1100">
                <a:latin typeface="Arial"/>
                <a:ea typeface="Arial"/>
                <a:cs typeface="Arial"/>
                <a:sym typeface="Arial"/>
              </a:rPr>
              <a:t> Can replace CSV with database easily.</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b="1" lang="en-GB" sz="1100">
                <a:latin typeface="Arial"/>
                <a:ea typeface="Arial"/>
                <a:cs typeface="Arial"/>
                <a:sym typeface="Arial"/>
              </a:rPr>
              <a:t>Extensible:</a:t>
            </a:r>
            <a:r>
              <a:rPr lang="en-GB" sz="1100">
                <a:latin typeface="Arial"/>
                <a:ea typeface="Arial"/>
                <a:cs typeface="Arial"/>
                <a:sym typeface="Arial"/>
              </a:rPr>
              <a:t> Easier to add new features later.</a:t>
            </a:r>
            <a:br>
              <a:rPr lang="en-GB"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pic>
        <p:nvPicPr>
          <p:cNvPr id="163" name="Google Shape;163;p17"/>
          <p:cNvPicPr preferRelativeResize="0"/>
          <p:nvPr/>
        </p:nvPicPr>
        <p:blipFill>
          <a:blip r:embed="rId3">
            <a:alphaModFix/>
          </a:blip>
          <a:stretch>
            <a:fillRect/>
          </a:stretch>
        </p:blipFill>
        <p:spPr>
          <a:xfrm>
            <a:off x="6931725" y="1456442"/>
            <a:ext cx="1747725" cy="1222981"/>
          </a:xfrm>
          <a:prstGeom prst="rect">
            <a:avLst/>
          </a:prstGeom>
          <a:noFill/>
          <a:ln>
            <a:noFill/>
          </a:ln>
        </p:spPr>
      </p:pic>
      <p:pic>
        <p:nvPicPr>
          <p:cNvPr id="164" name="Google Shape;164;p17"/>
          <p:cNvPicPr preferRelativeResize="0"/>
          <p:nvPr/>
        </p:nvPicPr>
        <p:blipFill>
          <a:blip r:embed="rId4">
            <a:alphaModFix/>
          </a:blip>
          <a:stretch>
            <a:fillRect/>
          </a:stretch>
        </p:blipFill>
        <p:spPr>
          <a:xfrm>
            <a:off x="2257634" y="2775563"/>
            <a:ext cx="1628866" cy="964875"/>
          </a:xfrm>
          <a:prstGeom prst="rect">
            <a:avLst/>
          </a:prstGeom>
          <a:noFill/>
          <a:ln>
            <a:noFill/>
          </a:ln>
        </p:spPr>
      </p:pic>
      <p:pic>
        <p:nvPicPr>
          <p:cNvPr id="165" name="Google Shape;165;p17"/>
          <p:cNvPicPr preferRelativeResize="0"/>
          <p:nvPr/>
        </p:nvPicPr>
        <p:blipFill>
          <a:blip r:embed="rId5">
            <a:alphaModFix/>
          </a:blip>
          <a:stretch>
            <a:fillRect/>
          </a:stretch>
        </p:blipFill>
        <p:spPr>
          <a:xfrm>
            <a:off x="4049516" y="2775563"/>
            <a:ext cx="2365722" cy="964875"/>
          </a:xfrm>
          <a:prstGeom prst="rect">
            <a:avLst/>
          </a:prstGeom>
          <a:noFill/>
          <a:ln>
            <a:noFill/>
          </a:ln>
        </p:spPr>
      </p:pic>
      <p:pic>
        <p:nvPicPr>
          <p:cNvPr id="166" name="Google Shape;166;p17"/>
          <p:cNvPicPr preferRelativeResize="0"/>
          <p:nvPr/>
        </p:nvPicPr>
        <p:blipFill>
          <a:blip r:embed="rId6">
            <a:alphaModFix/>
          </a:blip>
          <a:stretch>
            <a:fillRect/>
          </a:stretch>
        </p:blipFill>
        <p:spPr>
          <a:xfrm>
            <a:off x="6578248" y="2800962"/>
            <a:ext cx="2454676" cy="914100"/>
          </a:xfrm>
          <a:prstGeom prst="rect">
            <a:avLst/>
          </a:prstGeom>
          <a:noFill/>
          <a:ln>
            <a:noFill/>
          </a:ln>
        </p:spPr>
      </p:pic>
      <p:sp>
        <p:nvSpPr>
          <p:cNvPr id="167" name="Google Shape;167;p17"/>
          <p:cNvSpPr/>
          <p:nvPr/>
        </p:nvSpPr>
        <p:spPr>
          <a:xfrm>
            <a:off x="3968475" y="337975"/>
            <a:ext cx="304426" cy="439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Open/Closed Principle (OCP)</a:t>
            </a:r>
            <a:endParaRPr b="1">
              <a:solidFill>
                <a:schemeClr val="lt2"/>
              </a:solidFill>
            </a:endParaRPr>
          </a:p>
        </p:txBody>
      </p:sp>
      <p:sp>
        <p:nvSpPr>
          <p:cNvPr id="173" name="Google Shape;173;p18"/>
          <p:cNvSpPr txBox="1"/>
          <p:nvPr>
            <p:ph idx="1" type="body"/>
          </p:nvPr>
        </p:nvSpPr>
        <p:spPr>
          <a:xfrm>
            <a:off x="1086032" y="1478787"/>
            <a:ext cx="7809600" cy="3837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b="1" lang="en-GB" sz="1100">
                <a:latin typeface="Arial"/>
                <a:ea typeface="Arial"/>
                <a:cs typeface="Arial"/>
                <a:sym typeface="Arial"/>
              </a:rPr>
              <a:t>Violation in Original Version:</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Menu directly calls the concrete class PreferenceService</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298450" lvl="0" marL="914400" rtl="0" algn="l">
              <a:spcBef>
                <a:spcPts val="0"/>
              </a:spcBef>
              <a:spcAft>
                <a:spcPts val="0"/>
              </a:spcAft>
              <a:buSzPts val="1100"/>
              <a:buFont typeface="Arial"/>
              <a:buChar char="○"/>
            </a:pPr>
            <a:r>
              <a:rPr lang="en-GB" sz="1100">
                <a:latin typeface="Arial"/>
                <a:ea typeface="Arial"/>
                <a:cs typeface="Arial"/>
                <a:sym typeface="Arial"/>
              </a:rPr>
              <a:t>By changing the storage Preference Persistence Service, it will requires edits in every menu that calls PreferenceService -&gt; allowing modules to be modified</a:t>
            </a:r>
            <a:endParaRPr sz="1100">
              <a:latin typeface="Arial"/>
              <a:ea typeface="Arial"/>
              <a:cs typeface="Arial"/>
              <a:sym typeface="Arial"/>
            </a:endParaRPr>
          </a:p>
          <a:p>
            <a:pPr indent="-298450" lvl="0" marL="914400" rtl="0" algn="l">
              <a:spcBef>
                <a:spcPts val="0"/>
              </a:spcBef>
              <a:spcAft>
                <a:spcPts val="0"/>
              </a:spcAft>
              <a:buSzPts val="1100"/>
              <a:buFont typeface="Arial"/>
              <a:buChar char="○"/>
            </a:pPr>
            <a:r>
              <a:rPr lang="en-GB" sz="1100">
                <a:latin typeface="Arial"/>
                <a:ea typeface="Arial"/>
                <a:cs typeface="Arial"/>
                <a:sym typeface="Arial"/>
              </a:rPr>
              <a:t>This</a:t>
            </a:r>
            <a:r>
              <a:rPr lang="en-GB" sz="1100">
                <a:latin typeface="Arial"/>
                <a:ea typeface="Arial"/>
                <a:cs typeface="Arial"/>
                <a:sym typeface="Arial"/>
              </a:rPr>
              <a:t> violates the</a:t>
            </a:r>
            <a:r>
              <a:rPr b="1" lang="en-GB" sz="1100">
                <a:latin typeface="Arial"/>
                <a:ea typeface="Arial"/>
                <a:cs typeface="Arial"/>
                <a:sym typeface="Arial"/>
              </a:rPr>
              <a:t> Open/Closed Principle</a:t>
            </a:r>
            <a:r>
              <a:rPr lang="en-GB" sz="1100">
                <a:latin typeface="Arial"/>
                <a:ea typeface="Arial"/>
                <a:cs typeface="Arial"/>
                <a:sym typeface="Arial"/>
              </a:rPr>
              <a:t> c</a:t>
            </a:r>
            <a:r>
              <a:rPr lang="en-GB" sz="1100">
                <a:latin typeface="Arial"/>
                <a:ea typeface="Arial"/>
                <a:cs typeface="Arial"/>
                <a:sym typeface="Arial"/>
              </a:rPr>
              <a:t>hanging PreferenceService forces changes in multiple modules (menus).</a:t>
            </a:r>
            <a:endParaRPr sz="1100">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
        <p:nvSpPr>
          <p:cNvPr id="174" name="Google Shape;174;p18"/>
          <p:cNvSpPr/>
          <p:nvPr/>
        </p:nvSpPr>
        <p:spPr>
          <a:xfrm>
            <a:off x="3968550" y="337975"/>
            <a:ext cx="296350" cy="436451"/>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O</a:t>
            </a:r>
          </a:p>
        </p:txBody>
      </p:sp>
      <p:pic>
        <p:nvPicPr>
          <p:cNvPr id="175" name="Google Shape;175;p18"/>
          <p:cNvPicPr preferRelativeResize="0"/>
          <p:nvPr/>
        </p:nvPicPr>
        <p:blipFill>
          <a:blip r:embed="rId3">
            <a:alphaModFix/>
          </a:blip>
          <a:stretch>
            <a:fillRect/>
          </a:stretch>
        </p:blipFill>
        <p:spPr>
          <a:xfrm>
            <a:off x="2161362" y="2018241"/>
            <a:ext cx="2410650" cy="1222925"/>
          </a:xfrm>
          <a:prstGeom prst="rect">
            <a:avLst/>
          </a:prstGeom>
          <a:noFill/>
          <a:ln>
            <a:noFill/>
          </a:ln>
        </p:spPr>
      </p:pic>
      <p:sp>
        <p:nvSpPr>
          <p:cNvPr id="176" name="Google Shape;176;p18"/>
          <p:cNvSpPr txBox="1"/>
          <p:nvPr/>
        </p:nvSpPr>
        <p:spPr>
          <a:xfrm>
            <a:off x="1171853" y="1023168"/>
            <a:ext cx="3747900" cy="38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lt1"/>
                </a:solidFill>
                <a:latin typeface="Lato"/>
                <a:ea typeface="Lato"/>
                <a:cs typeface="Lato"/>
                <a:sym typeface="Lato"/>
              </a:rPr>
              <a:t>Open for Extension, Closed for modification</a:t>
            </a:r>
            <a:endParaRPr b="1"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ph idx="1" type="body"/>
          </p:nvPr>
        </p:nvSpPr>
        <p:spPr>
          <a:xfrm>
            <a:off x="1086025" y="1174425"/>
            <a:ext cx="7038900" cy="3854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b="1" lang="en-GB" sz="1100">
                <a:latin typeface="Arial"/>
                <a:ea typeface="Arial"/>
                <a:cs typeface="Arial"/>
                <a:sym typeface="Arial"/>
              </a:rPr>
              <a:t>Solution:</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Introducing a new interface PreferencesStore</a:t>
            </a:r>
            <a:endParaRPr>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298450" lvl="0" marL="914400" rtl="0" algn="l">
              <a:spcBef>
                <a:spcPts val="1200"/>
              </a:spcBef>
              <a:spcAft>
                <a:spcPts val="0"/>
              </a:spcAft>
              <a:buSzPts val="1100"/>
              <a:buFont typeface="Arial"/>
              <a:buChar char="○"/>
            </a:pPr>
            <a:r>
              <a:rPr lang="en-GB" sz="1100">
                <a:latin typeface="Arial"/>
                <a:ea typeface="Arial"/>
                <a:cs typeface="Arial"/>
                <a:sym typeface="Arial"/>
              </a:rPr>
              <a:t>PreferenceService implements PreferenceStore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298450" lvl="0" marL="914400" rtl="0" algn="l">
              <a:spcBef>
                <a:spcPts val="1200"/>
              </a:spcBef>
              <a:spcAft>
                <a:spcPts val="0"/>
              </a:spcAft>
              <a:buSzPts val="1100"/>
              <a:buFont typeface="Arial"/>
              <a:buChar char="○"/>
            </a:pPr>
            <a:r>
              <a:rPr lang="en-GB" sz="1100">
                <a:latin typeface="Arial"/>
                <a:ea typeface="Arial"/>
                <a:cs typeface="Arial"/>
                <a:sym typeface="Arial"/>
              </a:rPr>
              <a:t>Menus now depend on the PreferenceStore </a:t>
            </a:r>
            <a:endParaRPr sz="1100">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		(Not the Concrete Class</a:t>
            </a:r>
            <a:r>
              <a:rPr lang="en-GB" sz="1100">
                <a:latin typeface="Arial"/>
                <a:ea typeface="Arial"/>
                <a:cs typeface="Arial"/>
                <a:sym typeface="Arial"/>
              </a:rPr>
              <a:t>)</a:t>
            </a:r>
            <a:endParaRPr b="1"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Advantage:</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Callers (menus) now depend on PreferencesStore (the abstraction)</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If we want to switch from CSV </a:t>
            </a:r>
            <a:r>
              <a:rPr lang="en-GB">
                <a:latin typeface="Arial"/>
                <a:ea typeface="Arial"/>
                <a:cs typeface="Arial"/>
                <a:sym typeface="Arial"/>
              </a:rPr>
              <a:t>cache to DB/encrypted/Redis</a:t>
            </a:r>
            <a:r>
              <a:rPr lang="en-GB">
                <a:latin typeface="Arial"/>
                <a:ea typeface="Arial"/>
                <a:cs typeface="Arial"/>
                <a:sym typeface="Arial"/>
              </a:rPr>
              <a:t>, you only update PreferenceService</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System is </a:t>
            </a:r>
            <a:r>
              <a:rPr b="1" lang="en-GB">
                <a:latin typeface="Arial"/>
                <a:ea typeface="Arial"/>
                <a:cs typeface="Arial"/>
                <a:sym typeface="Arial"/>
              </a:rPr>
              <a:t>Open</a:t>
            </a:r>
            <a:r>
              <a:rPr lang="en-GB">
                <a:latin typeface="Arial"/>
                <a:ea typeface="Arial"/>
                <a:cs typeface="Arial"/>
                <a:sym typeface="Arial"/>
              </a:rPr>
              <a:t> for extension (new storage methods) and System is </a:t>
            </a:r>
            <a:r>
              <a:rPr b="1" lang="en-GB">
                <a:latin typeface="Arial"/>
                <a:ea typeface="Arial"/>
                <a:cs typeface="Arial"/>
                <a:sym typeface="Arial"/>
              </a:rPr>
              <a:t>Closed</a:t>
            </a:r>
            <a:r>
              <a:rPr lang="en-GB">
                <a:latin typeface="Arial"/>
                <a:ea typeface="Arial"/>
                <a:cs typeface="Arial"/>
                <a:sym typeface="Arial"/>
              </a:rPr>
              <a:t> for modification (Menu code change not required) -&gt; achieving </a:t>
            </a:r>
            <a:r>
              <a:rPr b="1" lang="en-GB">
                <a:latin typeface="Arial"/>
                <a:ea typeface="Arial"/>
                <a:cs typeface="Arial"/>
                <a:sym typeface="Arial"/>
              </a:rPr>
              <a:t>Open/Closed Principle</a:t>
            </a:r>
            <a:endParaRPr b="1">
              <a:latin typeface="Arial"/>
              <a:ea typeface="Arial"/>
              <a:cs typeface="Arial"/>
              <a:sym typeface="Arial"/>
            </a:endParaRPr>
          </a:p>
        </p:txBody>
      </p:sp>
      <p:sp>
        <p:nvSpPr>
          <p:cNvPr id="182" name="Google Shape;182;p19"/>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Open/Closed Principle (OCP)</a:t>
            </a:r>
            <a:endParaRPr b="1">
              <a:solidFill>
                <a:schemeClr val="lt2"/>
              </a:solidFill>
            </a:endParaRPr>
          </a:p>
        </p:txBody>
      </p:sp>
      <p:sp>
        <p:nvSpPr>
          <p:cNvPr id="183" name="Google Shape;183;p19"/>
          <p:cNvSpPr/>
          <p:nvPr/>
        </p:nvSpPr>
        <p:spPr>
          <a:xfrm>
            <a:off x="3968550" y="337975"/>
            <a:ext cx="296350" cy="436451"/>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O</a:t>
            </a:r>
          </a:p>
        </p:txBody>
      </p:sp>
      <p:pic>
        <p:nvPicPr>
          <p:cNvPr id="184" name="Google Shape;184;p19"/>
          <p:cNvPicPr preferRelativeResize="0"/>
          <p:nvPr/>
        </p:nvPicPr>
        <p:blipFill rotWithShape="1">
          <a:blip r:embed="rId3">
            <a:alphaModFix/>
          </a:blip>
          <a:srcRect b="0" l="0" r="0" t="0"/>
          <a:stretch/>
        </p:blipFill>
        <p:spPr>
          <a:xfrm>
            <a:off x="5266350" y="1338075"/>
            <a:ext cx="2286000" cy="638175"/>
          </a:xfrm>
          <a:prstGeom prst="rect">
            <a:avLst/>
          </a:prstGeom>
          <a:noFill/>
          <a:ln>
            <a:noFill/>
          </a:ln>
        </p:spPr>
      </p:pic>
      <p:pic>
        <p:nvPicPr>
          <p:cNvPr id="185" name="Google Shape;185;p19"/>
          <p:cNvPicPr preferRelativeResize="0"/>
          <p:nvPr/>
        </p:nvPicPr>
        <p:blipFill>
          <a:blip r:embed="rId4">
            <a:alphaModFix/>
          </a:blip>
          <a:stretch>
            <a:fillRect/>
          </a:stretch>
        </p:blipFill>
        <p:spPr>
          <a:xfrm>
            <a:off x="5266350" y="2062250"/>
            <a:ext cx="3172625" cy="469225"/>
          </a:xfrm>
          <a:prstGeom prst="rect">
            <a:avLst/>
          </a:prstGeom>
          <a:noFill/>
          <a:ln>
            <a:noFill/>
          </a:ln>
        </p:spPr>
      </p:pic>
      <p:pic>
        <p:nvPicPr>
          <p:cNvPr id="186" name="Google Shape;186;p19"/>
          <p:cNvPicPr preferRelativeResize="0"/>
          <p:nvPr/>
        </p:nvPicPr>
        <p:blipFill>
          <a:blip r:embed="rId5">
            <a:alphaModFix/>
          </a:blip>
          <a:stretch>
            <a:fillRect/>
          </a:stretch>
        </p:blipFill>
        <p:spPr>
          <a:xfrm>
            <a:off x="5266350" y="2617475"/>
            <a:ext cx="3140575" cy="830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Liskov Substitution Principle (LSP)</a:t>
            </a:r>
            <a:endParaRPr b="1">
              <a:solidFill>
                <a:schemeClr val="lt2"/>
              </a:solidFill>
            </a:endParaRPr>
          </a:p>
        </p:txBody>
      </p:sp>
      <p:sp>
        <p:nvSpPr>
          <p:cNvPr id="192" name="Google Shape;192;p20"/>
          <p:cNvSpPr txBox="1"/>
          <p:nvPr>
            <p:ph idx="1" type="body"/>
          </p:nvPr>
        </p:nvSpPr>
        <p:spPr>
          <a:xfrm>
            <a:off x="1086025" y="1150375"/>
            <a:ext cx="7038900" cy="383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latin typeface="Arial"/>
                <a:ea typeface="Arial"/>
                <a:cs typeface="Arial"/>
                <a:sym typeface="Arial"/>
              </a:rPr>
              <a:t>The Liskov Substitution Principle (LSP) is a key concept in object-oriented programming, ensuring that superclass objects can be replaced with subclass objects without affecting program correctness.</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Violation in Original Version:</a:t>
            </a:r>
            <a:endParaRPr b="1" sz="1100">
              <a:latin typeface="Arial"/>
              <a:ea typeface="Arial"/>
              <a:cs typeface="Arial"/>
              <a:sym typeface="Arial"/>
            </a:endParaRPr>
          </a:p>
        </p:txBody>
      </p:sp>
      <p:pic>
        <p:nvPicPr>
          <p:cNvPr id="193" name="Google Shape;193;p20"/>
          <p:cNvPicPr preferRelativeResize="0"/>
          <p:nvPr/>
        </p:nvPicPr>
        <p:blipFill>
          <a:blip r:embed="rId3">
            <a:alphaModFix/>
          </a:blip>
          <a:stretch>
            <a:fillRect/>
          </a:stretch>
        </p:blipFill>
        <p:spPr>
          <a:xfrm>
            <a:off x="1648550" y="2153350"/>
            <a:ext cx="4539500" cy="836775"/>
          </a:xfrm>
          <a:prstGeom prst="rect">
            <a:avLst/>
          </a:prstGeom>
          <a:noFill/>
          <a:ln>
            <a:noFill/>
          </a:ln>
        </p:spPr>
      </p:pic>
      <p:pic>
        <p:nvPicPr>
          <p:cNvPr id="194" name="Google Shape;194;p20"/>
          <p:cNvPicPr preferRelativeResize="0"/>
          <p:nvPr/>
        </p:nvPicPr>
        <p:blipFill>
          <a:blip r:embed="rId4">
            <a:alphaModFix/>
          </a:blip>
          <a:stretch>
            <a:fillRect/>
          </a:stretch>
        </p:blipFill>
        <p:spPr>
          <a:xfrm>
            <a:off x="1648550" y="3099400"/>
            <a:ext cx="4539500" cy="1500967"/>
          </a:xfrm>
          <a:prstGeom prst="rect">
            <a:avLst/>
          </a:prstGeom>
          <a:noFill/>
          <a:ln>
            <a:noFill/>
          </a:ln>
        </p:spPr>
      </p:pic>
      <p:sp>
        <p:nvSpPr>
          <p:cNvPr id="195" name="Google Shape;195;p20"/>
          <p:cNvSpPr/>
          <p:nvPr/>
        </p:nvSpPr>
        <p:spPr>
          <a:xfrm>
            <a:off x="4008527" y="389900"/>
            <a:ext cx="177425" cy="356224"/>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L</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ph idx="1" type="body"/>
          </p:nvPr>
        </p:nvSpPr>
        <p:spPr>
          <a:xfrm>
            <a:off x="1086025" y="1174425"/>
            <a:ext cx="7038900" cy="3854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b="1" lang="en-GB" sz="1100">
                <a:latin typeface="Arial"/>
                <a:ea typeface="Arial"/>
                <a:cs typeface="Arial"/>
                <a:sym typeface="Arial"/>
              </a:rPr>
              <a:t>Solution:</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Keep User.passwordMatches</a:t>
            </a:r>
            <a:r>
              <a:rPr lang="en-GB">
                <a:latin typeface="Arial"/>
                <a:ea typeface="Arial"/>
                <a:cs typeface="Arial"/>
                <a:sym typeface="Arial"/>
              </a:rPr>
              <a:t> </a:t>
            </a:r>
            <a:r>
              <a:rPr lang="en-GB" sz="1100">
                <a:latin typeface="Arial"/>
                <a:ea typeface="Arial"/>
                <a:cs typeface="Arial"/>
                <a:sym typeface="Arial"/>
              </a:rPr>
              <a:t>uniform and side-effect-free across all subclasses.</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298450" lvl="0" marL="914400" rtl="0" algn="l">
              <a:spcBef>
                <a:spcPts val="1200"/>
              </a:spcBef>
              <a:spcAft>
                <a:spcPts val="0"/>
              </a:spcAft>
              <a:buSzPts val="1100"/>
              <a:buFont typeface="Arial"/>
              <a:buChar char="○"/>
            </a:pPr>
            <a:r>
              <a:rPr lang="en-GB" sz="1100">
                <a:latin typeface="Arial"/>
                <a:ea typeface="Arial"/>
                <a:cs typeface="Arial"/>
                <a:sym typeface="Arial"/>
              </a:rPr>
              <a:t>Moving Role-Specific Checks to AuthService</a:t>
            </a:r>
            <a:endParaRPr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Advantage:</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By maintaining a stable contract, code written against the User class works identically for Student, Staff, or CompanyRep, without hidden exceptions or extra preconditions. This approach enhances the reliability and maintainability of the system.</a:t>
            </a:r>
            <a:endParaRPr sz="1100">
              <a:latin typeface="Arial"/>
              <a:ea typeface="Arial"/>
              <a:cs typeface="Arial"/>
              <a:sym typeface="Arial"/>
            </a:endParaRPr>
          </a:p>
        </p:txBody>
      </p:sp>
      <p:pic>
        <p:nvPicPr>
          <p:cNvPr id="201" name="Google Shape;201;p21"/>
          <p:cNvPicPr preferRelativeResize="0"/>
          <p:nvPr/>
        </p:nvPicPr>
        <p:blipFill>
          <a:blip r:embed="rId3">
            <a:alphaModFix/>
          </a:blip>
          <a:stretch>
            <a:fillRect/>
          </a:stretch>
        </p:blipFill>
        <p:spPr>
          <a:xfrm>
            <a:off x="2112100" y="1651475"/>
            <a:ext cx="2655991" cy="1125725"/>
          </a:xfrm>
          <a:prstGeom prst="rect">
            <a:avLst/>
          </a:prstGeom>
          <a:noFill/>
          <a:ln>
            <a:noFill/>
          </a:ln>
        </p:spPr>
      </p:pic>
      <p:pic>
        <p:nvPicPr>
          <p:cNvPr id="202" name="Google Shape;202;p21"/>
          <p:cNvPicPr preferRelativeResize="0"/>
          <p:nvPr/>
        </p:nvPicPr>
        <p:blipFill>
          <a:blip r:embed="rId4">
            <a:alphaModFix/>
          </a:blip>
          <a:stretch>
            <a:fillRect/>
          </a:stretch>
        </p:blipFill>
        <p:spPr>
          <a:xfrm>
            <a:off x="2112099" y="3011050"/>
            <a:ext cx="2515325" cy="1125725"/>
          </a:xfrm>
          <a:prstGeom prst="rect">
            <a:avLst/>
          </a:prstGeom>
          <a:noFill/>
          <a:ln>
            <a:noFill/>
          </a:ln>
        </p:spPr>
      </p:pic>
      <p:sp>
        <p:nvSpPr>
          <p:cNvPr id="203" name="Google Shape;203;p21"/>
          <p:cNvSpPr/>
          <p:nvPr/>
        </p:nvSpPr>
        <p:spPr>
          <a:xfrm>
            <a:off x="4008527" y="389900"/>
            <a:ext cx="177425" cy="356224"/>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L</a:t>
            </a:r>
          </a:p>
        </p:txBody>
      </p:sp>
      <p:sp>
        <p:nvSpPr>
          <p:cNvPr id="204" name="Google Shape;204;p21"/>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Liskov Substitution Principle (LSP)</a:t>
            </a:r>
            <a:endParaRPr b="1">
              <a:solidFill>
                <a:schemeClr val="l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idx="1" type="body"/>
          </p:nvPr>
        </p:nvSpPr>
        <p:spPr>
          <a:xfrm>
            <a:off x="1086025" y="1198450"/>
            <a:ext cx="6928200" cy="230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latin typeface="Arial"/>
                <a:ea typeface="Arial"/>
                <a:cs typeface="Arial"/>
                <a:sym typeface="Arial"/>
              </a:rPr>
              <a:t>Interface</a:t>
            </a:r>
            <a:r>
              <a:rPr b="1" lang="en-GB" sz="1100">
                <a:latin typeface="Arial"/>
                <a:ea typeface="Arial"/>
                <a:cs typeface="Arial"/>
                <a:sym typeface="Arial"/>
              </a:rPr>
              <a:t> should not force classes to implement when they cannot do and large interface should be divided into smaller ones. </a:t>
            </a:r>
            <a:endParaRPr b="1"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Violation in Original Version:</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Single utility CsvUtil handles all CSV operations.</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Respective Menu only needed preference but had to import CsvUtil.</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AuthService only need directories yet it includes opportunity, applications and preference.</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Portal Service only need opportunities.</a:t>
            </a:r>
            <a:r>
              <a:rPr lang="en-GB" sz="1100">
                <a:latin typeface="Arial"/>
                <a:ea typeface="Arial"/>
                <a:cs typeface="Arial"/>
                <a:sym typeface="Arial"/>
              </a:rPr>
              <a:t>application but includes users and preference.</a:t>
            </a:r>
            <a:r>
              <a:rPr lang="en-GB" sz="1100">
                <a:latin typeface="Arial"/>
                <a:ea typeface="Arial"/>
                <a:cs typeface="Arial"/>
                <a:sym typeface="Arial"/>
              </a:rPr>
              <a:t> </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Multiple </a:t>
            </a:r>
            <a:r>
              <a:rPr lang="en-GB" sz="1100">
                <a:latin typeface="Arial"/>
                <a:ea typeface="Arial"/>
                <a:cs typeface="Arial"/>
                <a:sym typeface="Arial"/>
              </a:rPr>
              <a:t>classes</a:t>
            </a:r>
            <a:r>
              <a:rPr lang="en-GB" sz="1100">
                <a:latin typeface="Arial"/>
                <a:ea typeface="Arial"/>
                <a:cs typeface="Arial"/>
                <a:sym typeface="Arial"/>
              </a:rPr>
              <a:t> were </a:t>
            </a:r>
            <a:r>
              <a:rPr lang="en-GB" sz="1100">
                <a:latin typeface="Arial"/>
                <a:ea typeface="Arial"/>
                <a:cs typeface="Arial"/>
                <a:sym typeface="Arial"/>
              </a:rPr>
              <a:t>forced</a:t>
            </a:r>
            <a:r>
              <a:rPr lang="en-GB" sz="1100">
                <a:latin typeface="Arial"/>
                <a:ea typeface="Arial"/>
                <a:cs typeface="Arial"/>
                <a:sym typeface="Arial"/>
              </a:rPr>
              <a:t> to depend on method they did not use in CsvUtil.</a:t>
            </a:r>
            <a:endParaRPr/>
          </a:p>
        </p:txBody>
      </p:sp>
      <p:pic>
        <p:nvPicPr>
          <p:cNvPr id="210" name="Google Shape;210;p22"/>
          <p:cNvPicPr preferRelativeResize="0"/>
          <p:nvPr/>
        </p:nvPicPr>
        <p:blipFill>
          <a:blip r:embed="rId3">
            <a:alphaModFix/>
          </a:blip>
          <a:stretch>
            <a:fillRect/>
          </a:stretch>
        </p:blipFill>
        <p:spPr>
          <a:xfrm>
            <a:off x="2102800" y="3284925"/>
            <a:ext cx="3130675" cy="1670525"/>
          </a:xfrm>
          <a:prstGeom prst="rect">
            <a:avLst/>
          </a:prstGeom>
          <a:noFill/>
          <a:ln>
            <a:noFill/>
          </a:ln>
        </p:spPr>
      </p:pic>
      <p:sp>
        <p:nvSpPr>
          <p:cNvPr id="211" name="Google Shape;211;p22"/>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Interface Segregation Principle (ISP)</a:t>
            </a:r>
            <a:endParaRPr b="1">
              <a:solidFill>
                <a:schemeClr val="lt2"/>
              </a:solidFill>
            </a:endParaRPr>
          </a:p>
        </p:txBody>
      </p:sp>
      <p:sp>
        <p:nvSpPr>
          <p:cNvPr id="212" name="Google Shape;212;p22"/>
          <p:cNvSpPr/>
          <p:nvPr/>
        </p:nvSpPr>
        <p:spPr>
          <a:xfrm>
            <a:off x="4016500" y="381900"/>
            <a:ext cx="64125" cy="38195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I</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idx="1" type="body"/>
          </p:nvPr>
        </p:nvSpPr>
        <p:spPr>
          <a:xfrm>
            <a:off x="1086025" y="1198450"/>
            <a:ext cx="6696000" cy="38493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Font typeface="Arial"/>
              <a:buChar char="●"/>
            </a:pPr>
            <a:r>
              <a:rPr b="1" lang="en-GB" sz="1100">
                <a:latin typeface="Arial"/>
                <a:ea typeface="Arial"/>
                <a:cs typeface="Arial"/>
                <a:sym typeface="Arial"/>
              </a:rPr>
              <a:t>Solution:</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Segregate capabilities into focused modules that clients only on what it needs (ie: preferenceStore - for preference csv only)</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Ie: preference store solution for O and preference service in I for our </a:t>
            </a:r>
            <a:r>
              <a:rPr lang="en-GB">
                <a:latin typeface="Arial"/>
                <a:ea typeface="Arial"/>
                <a:cs typeface="Arial"/>
                <a:sym typeface="Arial"/>
              </a:rPr>
              <a:t>principle</a:t>
            </a:r>
            <a:r>
              <a:rPr lang="en-GB">
                <a:latin typeface="Arial"/>
                <a:ea typeface="Arial"/>
                <a:cs typeface="Arial"/>
                <a:sym typeface="Arial"/>
              </a:rPr>
              <a:t>.</a:t>
            </a:r>
            <a:endParaRPr>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Advantage:</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Changing user C</a:t>
            </a:r>
            <a:r>
              <a:rPr lang="en-GB">
                <a:latin typeface="Arial"/>
                <a:ea typeface="Arial"/>
                <a:cs typeface="Arial"/>
                <a:sym typeface="Arial"/>
              </a:rPr>
              <a:t>SV</a:t>
            </a:r>
            <a:r>
              <a:rPr lang="en-GB" sz="1100">
                <a:latin typeface="Arial"/>
                <a:ea typeface="Arial"/>
                <a:cs typeface="Arial"/>
                <a:sym typeface="Arial"/>
              </a:rPr>
              <a:t> column no longer affect menu or PortalService</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Changing opp/app storage does not affect menus or AuthService</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Preferences evolution does not touch user or opp/app code</a:t>
            </a:r>
            <a:endParaRPr sz="1100">
              <a:latin typeface="Arial"/>
              <a:ea typeface="Arial"/>
              <a:cs typeface="Arial"/>
              <a:sym typeface="Arial"/>
            </a:endParaRPr>
          </a:p>
          <a:p>
            <a:pPr indent="0" lvl="0" marL="0" rtl="0" algn="l">
              <a:spcBef>
                <a:spcPts val="1200"/>
              </a:spcBef>
              <a:spcAft>
                <a:spcPts val="1200"/>
              </a:spcAft>
              <a:buNone/>
            </a:pPr>
            <a:r>
              <a:t/>
            </a:r>
            <a:endParaRPr/>
          </a:p>
        </p:txBody>
      </p:sp>
      <p:pic>
        <p:nvPicPr>
          <p:cNvPr id="218" name="Google Shape;218;p23"/>
          <p:cNvPicPr preferRelativeResize="0"/>
          <p:nvPr/>
        </p:nvPicPr>
        <p:blipFill>
          <a:blip r:embed="rId3">
            <a:alphaModFix/>
          </a:blip>
          <a:stretch>
            <a:fillRect/>
          </a:stretch>
        </p:blipFill>
        <p:spPr>
          <a:xfrm>
            <a:off x="2080250" y="2183837"/>
            <a:ext cx="3118450" cy="1092700"/>
          </a:xfrm>
          <a:prstGeom prst="rect">
            <a:avLst/>
          </a:prstGeom>
          <a:noFill/>
          <a:ln>
            <a:noFill/>
          </a:ln>
        </p:spPr>
      </p:pic>
      <p:pic>
        <p:nvPicPr>
          <p:cNvPr id="219" name="Google Shape;219;p23"/>
          <p:cNvPicPr preferRelativeResize="0"/>
          <p:nvPr/>
        </p:nvPicPr>
        <p:blipFill>
          <a:blip r:embed="rId4">
            <a:alphaModFix/>
          </a:blip>
          <a:stretch>
            <a:fillRect/>
          </a:stretch>
        </p:blipFill>
        <p:spPr>
          <a:xfrm>
            <a:off x="5347625" y="2749500"/>
            <a:ext cx="3435400" cy="527024"/>
          </a:xfrm>
          <a:prstGeom prst="rect">
            <a:avLst/>
          </a:prstGeom>
          <a:noFill/>
          <a:ln>
            <a:noFill/>
          </a:ln>
        </p:spPr>
      </p:pic>
      <p:pic>
        <p:nvPicPr>
          <p:cNvPr id="220" name="Google Shape;220;p23"/>
          <p:cNvPicPr preferRelativeResize="0"/>
          <p:nvPr/>
        </p:nvPicPr>
        <p:blipFill>
          <a:blip r:embed="rId5">
            <a:alphaModFix/>
          </a:blip>
          <a:stretch>
            <a:fillRect/>
          </a:stretch>
        </p:blipFill>
        <p:spPr>
          <a:xfrm>
            <a:off x="5347629" y="2183829"/>
            <a:ext cx="3435400" cy="435750"/>
          </a:xfrm>
          <a:prstGeom prst="rect">
            <a:avLst/>
          </a:prstGeom>
          <a:noFill/>
          <a:ln>
            <a:noFill/>
          </a:ln>
        </p:spPr>
      </p:pic>
      <p:sp>
        <p:nvSpPr>
          <p:cNvPr id="221" name="Google Shape;221;p23"/>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Interface Segregation Principle (ISP)</a:t>
            </a:r>
            <a:endParaRPr b="1">
              <a:solidFill>
                <a:schemeClr val="lt2"/>
              </a:solidFill>
            </a:endParaRPr>
          </a:p>
        </p:txBody>
      </p:sp>
      <p:sp>
        <p:nvSpPr>
          <p:cNvPr id="222" name="Google Shape;222;p23"/>
          <p:cNvSpPr/>
          <p:nvPr/>
        </p:nvSpPr>
        <p:spPr>
          <a:xfrm>
            <a:off x="4016500" y="381900"/>
            <a:ext cx="64125" cy="38195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I</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Dependency Inversion Principle (DIP)</a:t>
            </a:r>
            <a:endParaRPr b="1">
              <a:solidFill>
                <a:schemeClr val="lt2"/>
              </a:solidFill>
            </a:endParaRPr>
          </a:p>
        </p:txBody>
      </p:sp>
      <p:sp>
        <p:nvSpPr>
          <p:cNvPr id="228" name="Google Shape;228;p24"/>
          <p:cNvSpPr txBox="1"/>
          <p:nvPr>
            <p:ph idx="1" type="body"/>
          </p:nvPr>
        </p:nvSpPr>
        <p:spPr>
          <a:xfrm>
            <a:off x="1086025" y="1195975"/>
            <a:ext cx="7038900" cy="38373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b="1" lang="en-GB" sz="1100">
                <a:latin typeface="Arial"/>
                <a:ea typeface="Arial"/>
                <a:cs typeface="Arial"/>
                <a:sym typeface="Arial"/>
              </a:rPr>
              <a:t>Violation in Original Version:</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High-level modules (Menus) depended on a concrete, low-level class (PreferenceService) and called its singleton</a:t>
            </a:r>
            <a:endParaRPr>
              <a:latin typeface="Arial"/>
              <a:ea typeface="Arial"/>
              <a:cs typeface="Arial"/>
              <a:sym typeface="Arial"/>
            </a:endParaRPr>
          </a:p>
          <a:p>
            <a:pPr indent="0" lvl="0" marL="91440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sz="1100">
                <a:latin typeface="Arial"/>
                <a:ea typeface="Arial"/>
                <a:cs typeface="Arial"/>
                <a:sym typeface="Arial"/>
              </a:rPr>
              <a:t>StudentMenu, StaffMenu, and CompanyRepMenu are high-level modules while PreferenceService is a low-level module (file-backed CSV persistence for user list preferences)</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ANY changes to how preferences are stored (CSV → JSON → DB), would force code changes and re-compilation in all menus</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This is a tight coupling structure, resulting in harder substitution and testing</a:t>
            </a:r>
            <a:endParaRPr>
              <a:latin typeface="Arial"/>
              <a:ea typeface="Arial"/>
              <a:cs typeface="Arial"/>
              <a:sym typeface="Arial"/>
            </a:endParaRPr>
          </a:p>
        </p:txBody>
      </p:sp>
      <p:sp>
        <p:nvSpPr>
          <p:cNvPr id="229" name="Google Shape;229;p24"/>
          <p:cNvSpPr/>
          <p:nvPr/>
        </p:nvSpPr>
        <p:spPr>
          <a:xfrm>
            <a:off x="3960425" y="337976"/>
            <a:ext cx="298700" cy="432151"/>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D</a:t>
            </a:r>
          </a:p>
        </p:txBody>
      </p:sp>
      <p:pic>
        <p:nvPicPr>
          <p:cNvPr id="230" name="Google Shape;230;p24"/>
          <p:cNvPicPr preferRelativeResize="0"/>
          <p:nvPr/>
        </p:nvPicPr>
        <p:blipFill>
          <a:blip r:embed="rId3">
            <a:alphaModFix/>
          </a:blip>
          <a:stretch>
            <a:fillRect/>
          </a:stretch>
        </p:blipFill>
        <p:spPr>
          <a:xfrm>
            <a:off x="2063275" y="1917650"/>
            <a:ext cx="6325795" cy="493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txBox="1"/>
          <p:nvPr>
            <p:ph type="title"/>
          </p:nvPr>
        </p:nvSpPr>
        <p:spPr>
          <a:xfrm>
            <a:off x="1086022" y="3379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chemeClr val="lt2"/>
                </a:solidFill>
              </a:rPr>
              <a:t>Design Principles - </a:t>
            </a:r>
            <a:endParaRPr b="1">
              <a:solidFill>
                <a:schemeClr val="lt2"/>
              </a:solidFill>
            </a:endParaRPr>
          </a:p>
          <a:p>
            <a:pPr indent="0" lvl="0" marL="0" rtl="0" algn="l">
              <a:spcBef>
                <a:spcPts val="0"/>
              </a:spcBef>
              <a:spcAft>
                <a:spcPts val="0"/>
              </a:spcAft>
              <a:buNone/>
            </a:pPr>
            <a:r>
              <a:rPr b="1" lang="en-GB">
                <a:solidFill>
                  <a:schemeClr val="lt2"/>
                </a:solidFill>
              </a:rPr>
              <a:t>Dependency Inversion Principle (DIP)</a:t>
            </a:r>
            <a:endParaRPr b="1">
              <a:solidFill>
                <a:schemeClr val="lt2"/>
              </a:solidFill>
            </a:endParaRPr>
          </a:p>
        </p:txBody>
      </p:sp>
      <p:sp>
        <p:nvSpPr>
          <p:cNvPr id="236" name="Google Shape;236;p25"/>
          <p:cNvSpPr/>
          <p:nvPr/>
        </p:nvSpPr>
        <p:spPr>
          <a:xfrm>
            <a:off x="3960425" y="337976"/>
            <a:ext cx="298700" cy="432151"/>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D</a:t>
            </a:r>
          </a:p>
        </p:txBody>
      </p:sp>
      <p:sp>
        <p:nvSpPr>
          <p:cNvPr id="237" name="Google Shape;237;p25"/>
          <p:cNvSpPr txBox="1"/>
          <p:nvPr>
            <p:ph idx="1" type="body"/>
          </p:nvPr>
        </p:nvSpPr>
        <p:spPr>
          <a:xfrm>
            <a:off x="1086025" y="1174425"/>
            <a:ext cx="7417200" cy="3854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b="1" lang="en-GB" sz="1100">
                <a:latin typeface="Arial"/>
                <a:ea typeface="Arial"/>
                <a:cs typeface="Arial"/>
                <a:sym typeface="Arial"/>
              </a:rPr>
              <a:t>Solution:</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Introducing a new interface PreferencesStore</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298450" lvl="0" marL="914400" rtl="0" algn="l">
              <a:spcBef>
                <a:spcPts val="1200"/>
              </a:spcBef>
              <a:spcAft>
                <a:spcPts val="0"/>
              </a:spcAft>
              <a:buSzPts val="1100"/>
              <a:buFont typeface="Arial"/>
              <a:buChar char="○"/>
            </a:pPr>
            <a:r>
              <a:rPr lang="en-GB" sz="1100">
                <a:latin typeface="Arial"/>
                <a:ea typeface="Arial"/>
                <a:cs typeface="Arial"/>
                <a:sym typeface="Arial"/>
              </a:rPr>
              <a:t>Making PreferenceService implementing it instead</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298450" lvl="0" marL="914400" rtl="0" algn="l">
              <a:spcBef>
                <a:spcPts val="1200"/>
              </a:spcBef>
              <a:spcAft>
                <a:spcPts val="0"/>
              </a:spcAft>
              <a:buSzPts val="1100"/>
              <a:buFont typeface="Arial"/>
              <a:buChar char="○"/>
            </a:pPr>
            <a:r>
              <a:rPr lang="en-GB" sz="1100">
                <a:latin typeface="Arial"/>
                <a:ea typeface="Arial"/>
                <a:cs typeface="Arial"/>
                <a:sym typeface="Arial"/>
              </a:rPr>
              <a:t>Refactor high-level modules (menus) to the abstraction:</a:t>
            </a:r>
            <a:endParaRPr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Advantage:</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Menus now depend on PreferencesStore (an abstraction), not PreferenceService (a detail)</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PreferenceService (detail) now implements PreferencesStore (abstraction) , the direction of dependency is inverted.</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Substitutability: swap CSV storage for JSON/DB or an in-memory stub without touching menu code</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Lower ripple: Changes to persistence format/classes no longer cascade into UI flows.</a:t>
            </a:r>
            <a:endParaRPr b="1"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pic>
        <p:nvPicPr>
          <p:cNvPr id="238" name="Google Shape;238;p25"/>
          <p:cNvPicPr preferRelativeResize="0"/>
          <p:nvPr/>
        </p:nvPicPr>
        <p:blipFill>
          <a:blip r:embed="rId3">
            <a:alphaModFix/>
          </a:blip>
          <a:stretch>
            <a:fillRect/>
          </a:stretch>
        </p:blipFill>
        <p:spPr>
          <a:xfrm>
            <a:off x="5622163" y="1252075"/>
            <a:ext cx="2126391" cy="582225"/>
          </a:xfrm>
          <a:prstGeom prst="rect">
            <a:avLst/>
          </a:prstGeom>
          <a:noFill/>
          <a:ln>
            <a:noFill/>
          </a:ln>
        </p:spPr>
      </p:pic>
      <p:pic>
        <p:nvPicPr>
          <p:cNvPr id="239" name="Google Shape;239;p25"/>
          <p:cNvPicPr preferRelativeResize="0"/>
          <p:nvPr/>
        </p:nvPicPr>
        <p:blipFill>
          <a:blip r:embed="rId4">
            <a:alphaModFix/>
          </a:blip>
          <a:stretch>
            <a:fillRect/>
          </a:stretch>
        </p:blipFill>
        <p:spPr>
          <a:xfrm>
            <a:off x="5622175" y="1986549"/>
            <a:ext cx="3129275" cy="462821"/>
          </a:xfrm>
          <a:prstGeom prst="rect">
            <a:avLst/>
          </a:prstGeom>
          <a:noFill/>
          <a:ln>
            <a:noFill/>
          </a:ln>
        </p:spPr>
      </p:pic>
      <p:pic>
        <p:nvPicPr>
          <p:cNvPr id="240" name="Google Shape;240;p25"/>
          <p:cNvPicPr preferRelativeResize="0"/>
          <p:nvPr/>
        </p:nvPicPr>
        <p:blipFill>
          <a:blip r:embed="rId5">
            <a:alphaModFix/>
          </a:blip>
          <a:stretch>
            <a:fillRect/>
          </a:stretch>
        </p:blipFill>
        <p:spPr>
          <a:xfrm>
            <a:off x="5622163" y="2649275"/>
            <a:ext cx="3129287" cy="505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6"/>
          <p:cNvSpPr txBox="1"/>
          <p:nvPr>
            <p:ph type="title"/>
          </p:nvPr>
        </p:nvSpPr>
        <p:spPr>
          <a:xfrm>
            <a:off x="2101750" y="811200"/>
            <a:ext cx="35892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sz="3200">
                <a:solidFill>
                  <a:schemeClr val="lt2"/>
                </a:solidFill>
              </a:rPr>
              <a:t>USAGE OF </a:t>
            </a:r>
            <a:r>
              <a:rPr b="1" lang="en-GB" sz="3200">
                <a:solidFill>
                  <a:schemeClr val="lt2"/>
                </a:solidFill>
              </a:rPr>
              <a:t>OOP CONCEPTS</a:t>
            </a:r>
            <a:endParaRPr b="1" sz="3200">
              <a:solidFill>
                <a:schemeClr val="l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7"/>
          <p:cNvSpPr txBox="1"/>
          <p:nvPr>
            <p:ph type="title"/>
          </p:nvPr>
        </p:nvSpPr>
        <p:spPr>
          <a:xfrm>
            <a:off x="1086025" y="337975"/>
            <a:ext cx="7038900" cy="58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OOP Concepts - Encapsulation </a:t>
            </a:r>
            <a:r>
              <a:rPr b="1" lang="en-GB" sz="2150">
                <a:solidFill>
                  <a:schemeClr val="lt2"/>
                </a:solidFill>
              </a:rPr>
              <a:t>and Abstraction</a:t>
            </a:r>
            <a:endParaRPr b="1" sz="2150">
              <a:solidFill>
                <a:schemeClr val="lt2"/>
              </a:solidFill>
            </a:endParaRPr>
          </a:p>
        </p:txBody>
      </p:sp>
      <p:sp>
        <p:nvSpPr>
          <p:cNvPr id="251" name="Google Shape;251;p27"/>
          <p:cNvSpPr txBox="1"/>
          <p:nvPr>
            <p:ph idx="1" type="body"/>
          </p:nvPr>
        </p:nvSpPr>
        <p:spPr>
          <a:xfrm>
            <a:off x="1093400" y="926050"/>
            <a:ext cx="7794300" cy="4022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lang="en-GB" sz="1100">
                <a:latin typeface="Arial"/>
                <a:ea typeface="Arial"/>
                <a:cs typeface="Arial"/>
                <a:sym typeface="Arial"/>
              </a:rPr>
              <a:t>Domain entities keep state private and guard their invariants:</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InternshipOpportunity — window &amp; capacity rules live within the object</a:t>
            </a:r>
            <a:endParaRPr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Advantages:</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Dates and counters are not exposed directly</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Validity (open window, capacity ceiling) is checked inside the class whenever state changes</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Other parts of the program call isOpenNow() / increaseConfirmed() instead of duplicating rule logic, reusable codes</a:t>
            </a:r>
            <a:endParaRPr>
              <a:latin typeface="Arial"/>
              <a:ea typeface="Arial"/>
              <a:cs typeface="Arial"/>
              <a:sym typeface="Arial"/>
            </a:endParaRPr>
          </a:p>
        </p:txBody>
      </p:sp>
      <p:pic>
        <p:nvPicPr>
          <p:cNvPr id="252" name="Google Shape;252;p27"/>
          <p:cNvPicPr preferRelativeResize="0"/>
          <p:nvPr/>
        </p:nvPicPr>
        <p:blipFill>
          <a:blip r:embed="rId3">
            <a:alphaModFix/>
          </a:blip>
          <a:stretch>
            <a:fillRect/>
          </a:stretch>
        </p:blipFill>
        <p:spPr>
          <a:xfrm>
            <a:off x="3481163" y="1426275"/>
            <a:ext cx="2181675" cy="1778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ph idx="1" type="body"/>
          </p:nvPr>
        </p:nvSpPr>
        <p:spPr>
          <a:xfrm>
            <a:off x="1093400" y="926050"/>
            <a:ext cx="7794300" cy="4022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lang="en-GB" sz="1100">
                <a:latin typeface="Arial"/>
                <a:ea typeface="Arial"/>
                <a:cs typeface="Arial"/>
                <a:sym typeface="Arial"/>
              </a:rPr>
              <a:t>Use of Inheritance to create role hierarchy with one base, three specialisations</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Users extended by Student / Staff / CompanyRep (to avoid repeating common code)</a:t>
            </a:r>
            <a:endParaRPr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GB" sz="1100">
                <a:latin typeface="Arial"/>
                <a:ea typeface="Arial"/>
                <a:cs typeface="Arial"/>
                <a:sym typeface="Arial"/>
              </a:rPr>
              <a:t>Advantages:</a:t>
            </a:r>
            <a:endParaRPr b="1" sz="1100">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Common identity/credentials live in User -&gt; All shared fields stay in one place </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Anywhere we handle a User (e.g., after login), we can branch to role-specific menus </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Overridden</a:t>
            </a:r>
            <a:r>
              <a:rPr lang="en-GB">
                <a:latin typeface="Arial"/>
                <a:ea typeface="Arial"/>
                <a:cs typeface="Arial"/>
                <a:sym typeface="Arial"/>
              </a:rPr>
              <a:t> takes place r (e.g., toString() output) is overridden where it belongs, which refers as Method overriding</a:t>
            </a:r>
            <a:endParaRPr>
              <a:latin typeface="Arial"/>
              <a:ea typeface="Arial"/>
              <a:cs typeface="Arial"/>
              <a:sym typeface="Arial"/>
            </a:endParaRPr>
          </a:p>
          <a:p>
            <a:pPr indent="-298450" lvl="1" marL="914400" rtl="0" algn="l">
              <a:spcBef>
                <a:spcPts val="0"/>
              </a:spcBef>
              <a:spcAft>
                <a:spcPts val="0"/>
              </a:spcAft>
              <a:buSzPts val="1100"/>
              <a:buFont typeface="Arial"/>
              <a:buChar char="○"/>
            </a:pPr>
            <a:r>
              <a:rPr lang="en-GB">
                <a:latin typeface="Arial"/>
                <a:ea typeface="Arial"/>
                <a:cs typeface="Arial"/>
                <a:sym typeface="Arial"/>
              </a:rPr>
              <a:t>Allows future extension of more User Groups like Alumni, Parents</a:t>
            </a:r>
            <a:endParaRPr>
              <a:latin typeface="Arial"/>
              <a:ea typeface="Arial"/>
              <a:cs typeface="Arial"/>
              <a:sym typeface="Arial"/>
            </a:endParaRPr>
          </a:p>
        </p:txBody>
      </p:sp>
      <p:sp>
        <p:nvSpPr>
          <p:cNvPr id="258" name="Google Shape;258;p28"/>
          <p:cNvSpPr txBox="1"/>
          <p:nvPr>
            <p:ph type="title"/>
          </p:nvPr>
        </p:nvSpPr>
        <p:spPr>
          <a:xfrm>
            <a:off x="1086025" y="337975"/>
            <a:ext cx="7881600" cy="58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OOP Concepts - </a:t>
            </a:r>
            <a:r>
              <a:rPr b="1" lang="en-GB" sz="2150">
                <a:solidFill>
                  <a:schemeClr val="lt2"/>
                </a:solidFill>
              </a:rPr>
              <a:t>Inheritance and Method Overriding</a:t>
            </a:r>
            <a:endParaRPr b="1" sz="2150">
              <a:solidFill>
                <a:schemeClr val="lt2"/>
              </a:solidFill>
            </a:endParaRPr>
          </a:p>
        </p:txBody>
      </p:sp>
      <p:pic>
        <p:nvPicPr>
          <p:cNvPr id="259" name="Google Shape;259;p28"/>
          <p:cNvPicPr preferRelativeResize="0"/>
          <p:nvPr/>
        </p:nvPicPr>
        <p:blipFill>
          <a:blip r:embed="rId3">
            <a:alphaModFix/>
          </a:blip>
          <a:stretch>
            <a:fillRect/>
          </a:stretch>
        </p:blipFill>
        <p:spPr>
          <a:xfrm>
            <a:off x="3735313" y="1434250"/>
            <a:ext cx="1673375" cy="1853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9"/>
          <p:cNvSpPr txBox="1"/>
          <p:nvPr>
            <p:ph idx="1" type="body"/>
          </p:nvPr>
        </p:nvSpPr>
        <p:spPr>
          <a:xfrm>
            <a:off x="1093400" y="926050"/>
            <a:ext cx="70389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latin typeface="Arial"/>
                <a:ea typeface="Arial"/>
                <a:cs typeface="Arial"/>
                <a:sym typeface="Arial"/>
              </a:rPr>
              <a:t>Polymorphism lets one call site dispatch different concrete behaviours at runtime depending on the object or value supplied, and these are the types we used:</a:t>
            </a:r>
            <a:endParaRPr>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p:txBody>
      </p:sp>
      <p:sp>
        <p:nvSpPr>
          <p:cNvPr id="265" name="Google Shape;265;p29"/>
          <p:cNvSpPr txBox="1"/>
          <p:nvPr>
            <p:ph type="title"/>
          </p:nvPr>
        </p:nvSpPr>
        <p:spPr>
          <a:xfrm>
            <a:off x="1086025" y="337975"/>
            <a:ext cx="7038900" cy="58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OOP Concepts - Polymorphism</a:t>
            </a:r>
            <a:endParaRPr b="1" sz="2150">
              <a:solidFill>
                <a:schemeClr val="lt2"/>
              </a:solidFill>
            </a:endParaRPr>
          </a:p>
        </p:txBody>
      </p:sp>
      <p:sp>
        <p:nvSpPr>
          <p:cNvPr id="266" name="Google Shape;266;p29"/>
          <p:cNvSpPr txBox="1"/>
          <p:nvPr>
            <p:ph idx="1" type="body"/>
          </p:nvPr>
        </p:nvSpPr>
        <p:spPr>
          <a:xfrm>
            <a:off x="1093400" y="1407325"/>
            <a:ext cx="7385700" cy="809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AutoNum type="arabicPeriod"/>
            </a:pPr>
            <a:r>
              <a:rPr b="1" lang="en-GB" sz="1100">
                <a:latin typeface="Arial"/>
                <a:ea typeface="Arial"/>
                <a:cs typeface="Arial"/>
                <a:sym typeface="Arial"/>
              </a:rPr>
              <a:t>Subtype </a:t>
            </a:r>
            <a:r>
              <a:rPr b="1" lang="en-GB" sz="1100">
                <a:latin typeface="Arial"/>
                <a:ea typeface="Arial"/>
                <a:cs typeface="Arial"/>
                <a:sym typeface="Arial"/>
              </a:rPr>
              <a:t>Polymorphism for Sorting:</a:t>
            </a:r>
            <a:endParaRPr b="1" sz="1100">
              <a:latin typeface="Arial"/>
              <a:ea typeface="Arial"/>
              <a:cs typeface="Arial"/>
              <a:sym typeface="Arial"/>
            </a:endParaRPr>
          </a:p>
          <a:p>
            <a:pPr indent="-298450" lvl="0" marL="914400" rtl="0" algn="l">
              <a:spcBef>
                <a:spcPts val="0"/>
              </a:spcBef>
              <a:spcAft>
                <a:spcPts val="0"/>
              </a:spcAft>
              <a:buSzPts val="1100"/>
              <a:buFont typeface="Arial"/>
              <a:buChar char="●"/>
            </a:pPr>
            <a:r>
              <a:rPr lang="en-GB" sz="1100">
                <a:latin typeface="Arial"/>
                <a:ea typeface="Arial"/>
                <a:cs typeface="Arial"/>
                <a:sym typeface="Arial"/>
              </a:rPr>
              <a:t>A single method returns different comparators based on the chosen column, allowing callers to request sorting by a specific column without knowing the underlying comparison logic</a:t>
            </a:r>
            <a:endParaRPr sz="1100">
              <a:latin typeface="Arial"/>
              <a:ea typeface="Arial"/>
              <a:cs typeface="Arial"/>
              <a:sym typeface="Arial"/>
            </a:endParaRPr>
          </a:p>
          <a:p>
            <a:pPr indent="-298450" lvl="0" marL="914400" rtl="0" algn="l">
              <a:spcBef>
                <a:spcPts val="0"/>
              </a:spcBef>
              <a:spcAft>
                <a:spcPts val="0"/>
              </a:spcAft>
              <a:buSzPts val="1100"/>
              <a:buFont typeface="Arial"/>
              <a:buChar char="●"/>
            </a:pPr>
            <a:r>
              <a:rPr lang="en-GB" sz="1100">
                <a:latin typeface="Arial"/>
                <a:ea typeface="Arial"/>
                <a:cs typeface="Arial"/>
                <a:sym typeface="Arial"/>
              </a:rPr>
              <a:t>ApplySort calls the same method but gets a different comparator object (strategy) depending on c</a:t>
            </a:r>
            <a:endParaRPr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p:txBody>
      </p:sp>
      <p:pic>
        <p:nvPicPr>
          <p:cNvPr id="267" name="Google Shape;267;p29"/>
          <p:cNvPicPr preferRelativeResize="0"/>
          <p:nvPr/>
        </p:nvPicPr>
        <p:blipFill>
          <a:blip r:embed="rId3">
            <a:alphaModFix/>
          </a:blip>
          <a:stretch>
            <a:fillRect/>
          </a:stretch>
        </p:blipFill>
        <p:spPr>
          <a:xfrm>
            <a:off x="2517487" y="2376950"/>
            <a:ext cx="4175975" cy="2579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0"/>
          <p:cNvSpPr txBox="1"/>
          <p:nvPr>
            <p:ph idx="1" type="body"/>
          </p:nvPr>
        </p:nvSpPr>
        <p:spPr>
          <a:xfrm>
            <a:off x="1093400" y="926050"/>
            <a:ext cx="7038900" cy="11544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AutoNum type="arabicPeriod" startAt="2"/>
            </a:pPr>
            <a:r>
              <a:rPr b="1" lang="en-GB" sz="1100">
                <a:latin typeface="Arial"/>
                <a:ea typeface="Arial"/>
                <a:cs typeface="Arial"/>
                <a:sym typeface="Arial"/>
              </a:rPr>
              <a:t>Strategy Polymorphism for Filtering</a:t>
            </a:r>
            <a:r>
              <a:rPr b="1" lang="en-GB" sz="1100">
                <a:latin typeface="Arial"/>
                <a:ea typeface="Arial"/>
                <a:cs typeface="Arial"/>
                <a:sym typeface="Arial"/>
              </a:rPr>
              <a:t>:</a:t>
            </a:r>
            <a:endParaRPr b="1" sz="1100">
              <a:latin typeface="Arial"/>
              <a:ea typeface="Arial"/>
              <a:cs typeface="Arial"/>
              <a:sym typeface="Arial"/>
            </a:endParaRPr>
          </a:p>
          <a:p>
            <a:pPr indent="-298450" lvl="0" marL="914400" rtl="0" algn="l">
              <a:spcBef>
                <a:spcPts val="0"/>
              </a:spcBef>
              <a:spcAft>
                <a:spcPts val="0"/>
              </a:spcAft>
              <a:buSzPts val="1100"/>
              <a:buFont typeface="Arial"/>
              <a:buChar char="●"/>
            </a:pPr>
            <a:r>
              <a:rPr lang="en-GB" sz="1100">
                <a:latin typeface="Arial"/>
                <a:ea typeface="Arial"/>
                <a:cs typeface="Arial"/>
                <a:sym typeface="Arial"/>
              </a:rPr>
              <a:t>Filtering uses a unified key extractor, where the UI passes a column and a keyword, and PortalService determines the appropriate way to extract text for matching</a:t>
            </a:r>
            <a:endParaRPr sz="1100">
              <a:latin typeface="Arial"/>
              <a:ea typeface="Arial"/>
              <a:cs typeface="Arial"/>
              <a:sym typeface="Arial"/>
            </a:endParaRPr>
          </a:p>
          <a:p>
            <a:pPr indent="-298450" lvl="0" marL="914400" rtl="0" algn="l">
              <a:spcBef>
                <a:spcPts val="0"/>
              </a:spcBef>
              <a:spcAft>
                <a:spcPts val="0"/>
              </a:spcAft>
              <a:buSzPts val="1100"/>
              <a:buFont typeface="Arial"/>
              <a:buChar char="●"/>
            </a:pPr>
            <a:r>
              <a:rPr lang="en-GB" sz="1100">
                <a:latin typeface="Arial"/>
                <a:ea typeface="Arial"/>
                <a:cs typeface="Arial"/>
                <a:sym typeface="Arial"/>
              </a:rPr>
              <a:t>valueFor plays the strategy for “Extracting a searchable value within a Column,” which changes per column, but the filter pipeline remains identical.</a:t>
            </a:r>
            <a:endParaRPr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p:txBody>
      </p:sp>
      <p:sp>
        <p:nvSpPr>
          <p:cNvPr id="273" name="Google Shape;273;p30"/>
          <p:cNvSpPr txBox="1"/>
          <p:nvPr>
            <p:ph type="title"/>
          </p:nvPr>
        </p:nvSpPr>
        <p:spPr>
          <a:xfrm>
            <a:off x="1086025" y="337975"/>
            <a:ext cx="7112700" cy="54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OOP Concepts - Polymorphism</a:t>
            </a:r>
            <a:endParaRPr b="1" sz="2150">
              <a:solidFill>
                <a:schemeClr val="lt2"/>
              </a:solidFill>
            </a:endParaRPr>
          </a:p>
        </p:txBody>
      </p:sp>
      <p:pic>
        <p:nvPicPr>
          <p:cNvPr id="274" name="Google Shape;274;p30"/>
          <p:cNvPicPr preferRelativeResize="0"/>
          <p:nvPr/>
        </p:nvPicPr>
        <p:blipFill>
          <a:blip r:embed="rId3">
            <a:alphaModFix/>
          </a:blip>
          <a:stretch>
            <a:fillRect/>
          </a:stretch>
        </p:blipFill>
        <p:spPr>
          <a:xfrm>
            <a:off x="2439803" y="2127925"/>
            <a:ext cx="4346103" cy="2747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1"/>
          <p:cNvSpPr txBox="1"/>
          <p:nvPr>
            <p:ph idx="1" type="body"/>
          </p:nvPr>
        </p:nvSpPr>
        <p:spPr>
          <a:xfrm>
            <a:off x="1086025" y="926050"/>
            <a:ext cx="4913700" cy="38493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en-GB" sz="1200">
                <a:solidFill>
                  <a:srgbClr val="E6E8F0"/>
                </a:solidFill>
                <a:highlight>
                  <a:srgbClr val="1F1F1F"/>
                </a:highlight>
                <a:latin typeface="Arial"/>
                <a:ea typeface="Arial"/>
                <a:cs typeface="Arial"/>
                <a:sym typeface="Arial"/>
              </a:rPr>
              <a:t>To manage runtime errors and other exceptional conditions that disrupt the normal flow of a program's execution</a:t>
            </a:r>
            <a:endParaRPr b="1" sz="1200">
              <a:solidFill>
                <a:srgbClr val="E6E8F0"/>
              </a:solidFill>
              <a:highlight>
                <a:srgbClr val="1F1F1F"/>
              </a:highlight>
              <a:latin typeface="Arial"/>
              <a:ea typeface="Arial"/>
              <a:cs typeface="Arial"/>
              <a:sym typeface="Arial"/>
            </a:endParaRPr>
          </a:p>
          <a:p>
            <a:pPr indent="0" lvl="0" marL="457200" rtl="0" algn="l">
              <a:lnSpc>
                <a:spcPct val="100000"/>
              </a:lnSpc>
              <a:spcBef>
                <a:spcPts val="0"/>
              </a:spcBef>
              <a:spcAft>
                <a:spcPts val="0"/>
              </a:spcAft>
              <a:buNone/>
            </a:pPr>
            <a:r>
              <a:t/>
            </a:r>
            <a:endParaRPr sz="1200">
              <a:solidFill>
                <a:srgbClr val="E6E8F0"/>
              </a:solidFill>
              <a:highlight>
                <a:srgbClr val="1F1F1F"/>
              </a:highlight>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b="1" lang="en-GB" sz="1100">
                <a:latin typeface="Arial"/>
                <a:ea typeface="Arial"/>
                <a:cs typeface="Arial"/>
                <a:sym typeface="Arial"/>
              </a:rPr>
              <a:t>Proactive file creation:</a:t>
            </a:r>
            <a:endParaRPr b="1" sz="1100">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lang="en-GB">
                <a:latin typeface="Arial"/>
                <a:ea typeface="Arial"/>
                <a:cs typeface="Arial"/>
                <a:sym typeface="Arial"/>
              </a:rPr>
              <a:t>Every read starts with ensureFileWithHeader()</a:t>
            </a:r>
            <a:endParaRPr>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lang="en-GB" sz="1100">
                <a:latin typeface="Arial"/>
                <a:ea typeface="Arial"/>
                <a:cs typeface="Arial"/>
                <a:sym typeface="Arial"/>
              </a:rPr>
              <a:t>If file missing will create with correct header</a:t>
            </a:r>
            <a:endParaRPr>
              <a:latin typeface="Arial"/>
              <a:ea typeface="Arial"/>
              <a:cs typeface="Arial"/>
              <a:sym typeface="Arial"/>
            </a:endParaRPr>
          </a:p>
          <a:p>
            <a:pPr indent="0" lvl="0" marL="914400" rtl="0" algn="l">
              <a:lnSpc>
                <a:spcPct val="100000"/>
              </a:lnSpc>
              <a:spcBef>
                <a:spcPts val="0"/>
              </a:spcBef>
              <a:spcAft>
                <a:spcPts val="0"/>
              </a:spcAft>
              <a:buNone/>
            </a:pPr>
            <a:r>
              <a:t/>
            </a:r>
            <a:endParaRPr>
              <a:latin typeface="Arial"/>
              <a:ea typeface="Arial"/>
              <a:cs typeface="Arial"/>
              <a:sym typeface="Arial"/>
            </a:endParaRPr>
          </a:p>
          <a:p>
            <a:pPr indent="0" lvl="0" marL="914400" rtl="0" algn="l">
              <a:lnSpc>
                <a:spcPct val="100000"/>
              </a:lnSpc>
              <a:spcBef>
                <a:spcPts val="0"/>
              </a:spcBef>
              <a:spcAft>
                <a:spcPts val="0"/>
              </a:spcAft>
              <a:buNone/>
            </a:pPr>
            <a:r>
              <a:t/>
            </a:r>
            <a:endParaRPr>
              <a:latin typeface="Arial"/>
              <a:ea typeface="Arial"/>
              <a:cs typeface="Arial"/>
              <a:sym typeface="Arial"/>
            </a:endParaRPr>
          </a:p>
          <a:p>
            <a:pPr indent="0" lvl="0" marL="914400" rtl="0" algn="l">
              <a:lnSpc>
                <a:spcPct val="100000"/>
              </a:lnSpc>
              <a:spcBef>
                <a:spcPts val="0"/>
              </a:spcBef>
              <a:spcAft>
                <a:spcPts val="0"/>
              </a:spcAft>
              <a:buNone/>
            </a:pPr>
            <a:r>
              <a:t/>
            </a:r>
            <a:endParaRPr>
              <a:latin typeface="Arial"/>
              <a:ea typeface="Arial"/>
              <a:cs typeface="Arial"/>
              <a:sym typeface="Arial"/>
            </a:endParaRPr>
          </a:p>
          <a:p>
            <a:pPr indent="0" lvl="0" marL="914400" rtl="0" algn="l">
              <a:lnSpc>
                <a:spcPct val="100000"/>
              </a:lnSpc>
              <a:spcBef>
                <a:spcPts val="0"/>
              </a:spcBef>
              <a:spcAft>
                <a:spcPts val="0"/>
              </a:spcAft>
              <a:buNone/>
            </a:pPr>
            <a:r>
              <a:t/>
            </a:r>
            <a:endParaRPr>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b="1" lang="en-GB" sz="1100">
                <a:latin typeface="Arial"/>
                <a:ea typeface="Arial"/>
                <a:cs typeface="Arial"/>
                <a:sym typeface="Arial"/>
              </a:rPr>
              <a:t>All CsvUtil public method throws IOExceptions:</a:t>
            </a:r>
            <a:endParaRPr sz="1100">
              <a:latin typeface="Arial"/>
              <a:ea typeface="Arial"/>
              <a:cs typeface="Arial"/>
              <a:sym typeface="Arial"/>
            </a:endParaRPr>
          </a:p>
          <a:p>
            <a:pPr indent="-298450" lvl="1" marL="914400" rtl="0" algn="just">
              <a:lnSpc>
                <a:spcPct val="100000"/>
              </a:lnSpc>
              <a:spcBef>
                <a:spcPts val="0"/>
              </a:spcBef>
              <a:spcAft>
                <a:spcPts val="0"/>
              </a:spcAft>
              <a:buSzPts val="1100"/>
              <a:buFont typeface="Arial"/>
              <a:buChar char="○"/>
            </a:pPr>
            <a:r>
              <a:rPr lang="en-GB">
                <a:latin typeface="Arial"/>
                <a:ea typeface="Arial"/>
                <a:cs typeface="Arial"/>
                <a:sym typeface="Arial"/>
              </a:rPr>
              <a:t>AuthService.reload() wraps each call in try/catch</a:t>
            </a:r>
            <a:endParaRPr>
              <a:latin typeface="Arial"/>
              <a:ea typeface="Arial"/>
              <a:cs typeface="Arial"/>
              <a:sym typeface="Arial"/>
            </a:endParaRPr>
          </a:p>
          <a:p>
            <a:pPr indent="-298450" lvl="1" marL="914400" rtl="0" algn="just">
              <a:lnSpc>
                <a:spcPct val="100000"/>
              </a:lnSpc>
              <a:spcBef>
                <a:spcPts val="0"/>
              </a:spcBef>
              <a:spcAft>
                <a:spcPts val="0"/>
              </a:spcAft>
              <a:buSzPts val="1100"/>
              <a:buFont typeface="Arial"/>
              <a:buChar char="○"/>
            </a:pPr>
            <a:r>
              <a:rPr lang="en-GB">
                <a:latin typeface="Arial"/>
                <a:ea typeface="Arial"/>
                <a:cs typeface="Arial"/>
                <a:sym typeface="Arial"/>
              </a:rPr>
              <a:t>On failure it prints an error to System.err to avoid clashing</a:t>
            </a:r>
            <a:endParaRPr>
              <a:latin typeface="Arial"/>
              <a:ea typeface="Arial"/>
              <a:cs typeface="Arial"/>
              <a:sym typeface="Arial"/>
            </a:endParaRPr>
          </a:p>
          <a:p>
            <a:pPr indent="0" lvl="0" marL="914400" rtl="0" algn="just">
              <a:lnSpc>
                <a:spcPct val="100000"/>
              </a:lnSpc>
              <a:spcBef>
                <a:spcPts val="0"/>
              </a:spcBef>
              <a:spcAft>
                <a:spcPts val="0"/>
              </a:spcAft>
              <a:buNone/>
            </a:pPr>
            <a:r>
              <a:t/>
            </a:r>
            <a:endParaRPr>
              <a:latin typeface="Arial"/>
              <a:ea typeface="Arial"/>
              <a:cs typeface="Arial"/>
              <a:sym typeface="Arial"/>
            </a:endParaRPr>
          </a:p>
          <a:p>
            <a:pPr indent="0" lvl="0" marL="0" rtl="0" algn="just">
              <a:lnSpc>
                <a:spcPct val="100000"/>
              </a:lnSpc>
              <a:spcBef>
                <a:spcPts val="0"/>
              </a:spcBef>
              <a:spcAft>
                <a:spcPts val="0"/>
              </a:spcAft>
              <a:buNone/>
            </a:pPr>
            <a:r>
              <a:t/>
            </a:r>
            <a:endParaRPr>
              <a:latin typeface="Arial"/>
              <a:ea typeface="Arial"/>
              <a:cs typeface="Arial"/>
              <a:sym typeface="Arial"/>
            </a:endParaRPr>
          </a:p>
          <a:p>
            <a:pPr indent="0" lvl="0" marL="914400" rtl="0" algn="just">
              <a:lnSpc>
                <a:spcPct val="100000"/>
              </a:lnSpc>
              <a:spcBef>
                <a:spcPts val="0"/>
              </a:spcBef>
              <a:spcAft>
                <a:spcPts val="0"/>
              </a:spcAft>
              <a:buNone/>
            </a:pPr>
            <a:r>
              <a:t/>
            </a:r>
            <a:endParaRPr>
              <a:latin typeface="Arial"/>
              <a:ea typeface="Arial"/>
              <a:cs typeface="Arial"/>
              <a:sym typeface="Arial"/>
            </a:endParaRPr>
          </a:p>
          <a:p>
            <a:pPr indent="0" lvl="0" marL="914400" rtl="0" algn="just">
              <a:lnSpc>
                <a:spcPct val="100000"/>
              </a:lnSpc>
              <a:spcBef>
                <a:spcPts val="0"/>
              </a:spcBef>
              <a:spcAft>
                <a:spcPts val="0"/>
              </a:spcAft>
              <a:buNone/>
            </a:pPr>
            <a:r>
              <a:t/>
            </a:r>
            <a:endParaRPr>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b="1" lang="en-GB" sz="1100">
                <a:latin typeface="Arial"/>
                <a:ea typeface="Arial"/>
                <a:cs typeface="Arial"/>
                <a:sym typeface="Arial"/>
              </a:rPr>
              <a:t>PortalService.reload() catches IOException from its CSV helper</a:t>
            </a:r>
            <a:endParaRPr b="1" sz="1100">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lang="en-GB" sz="1100">
                <a:latin typeface="Arial"/>
                <a:ea typeface="Arial"/>
                <a:cs typeface="Arial"/>
                <a:sym typeface="Arial"/>
              </a:rPr>
              <a:t>Even AuthService.reload() follows the same pattern (three try/catch blocks for students, staff, reps—on failure it logs and replaces with an empty list). </a:t>
            </a:r>
            <a:endParaRPr sz="1100">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lang="en-GB" sz="1100">
                <a:latin typeface="Arial"/>
                <a:ea typeface="Arial"/>
                <a:cs typeface="Arial"/>
                <a:sym typeface="Arial"/>
              </a:rPr>
              <a:t>This layering “CsvUtil throws, services catch” ensures missing/locked/malformed CSVs never crash the CLI and degrades gracefully (logs + keeps running)</a:t>
            </a:r>
            <a:endParaRPr/>
          </a:p>
        </p:txBody>
      </p:sp>
      <p:pic>
        <p:nvPicPr>
          <p:cNvPr id="280" name="Google Shape;280;p31"/>
          <p:cNvPicPr preferRelativeResize="0"/>
          <p:nvPr/>
        </p:nvPicPr>
        <p:blipFill>
          <a:blip r:embed="rId3">
            <a:alphaModFix/>
          </a:blip>
          <a:stretch>
            <a:fillRect/>
          </a:stretch>
        </p:blipFill>
        <p:spPr>
          <a:xfrm>
            <a:off x="6044238" y="992725"/>
            <a:ext cx="2816087" cy="809625"/>
          </a:xfrm>
          <a:prstGeom prst="rect">
            <a:avLst/>
          </a:prstGeom>
          <a:noFill/>
          <a:ln>
            <a:noFill/>
          </a:ln>
        </p:spPr>
      </p:pic>
      <p:pic>
        <p:nvPicPr>
          <p:cNvPr id="281" name="Google Shape;281;p31"/>
          <p:cNvPicPr preferRelativeResize="0"/>
          <p:nvPr/>
        </p:nvPicPr>
        <p:blipFill>
          <a:blip r:embed="rId4">
            <a:alphaModFix/>
          </a:blip>
          <a:stretch>
            <a:fillRect/>
          </a:stretch>
        </p:blipFill>
        <p:spPr>
          <a:xfrm>
            <a:off x="6187087" y="2045500"/>
            <a:ext cx="2530400" cy="1260800"/>
          </a:xfrm>
          <a:prstGeom prst="rect">
            <a:avLst/>
          </a:prstGeom>
          <a:noFill/>
          <a:ln>
            <a:noFill/>
          </a:ln>
        </p:spPr>
      </p:pic>
      <p:pic>
        <p:nvPicPr>
          <p:cNvPr id="282" name="Google Shape;282;p31"/>
          <p:cNvPicPr preferRelativeResize="0"/>
          <p:nvPr/>
        </p:nvPicPr>
        <p:blipFill>
          <a:blip r:embed="rId5">
            <a:alphaModFix/>
          </a:blip>
          <a:stretch>
            <a:fillRect/>
          </a:stretch>
        </p:blipFill>
        <p:spPr>
          <a:xfrm>
            <a:off x="6044250" y="3644225"/>
            <a:ext cx="2905125" cy="809625"/>
          </a:xfrm>
          <a:prstGeom prst="rect">
            <a:avLst/>
          </a:prstGeom>
          <a:noFill/>
          <a:ln>
            <a:noFill/>
          </a:ln>
        </p:spPr>
      </p:pic>
      <p:sp>
        <p:nvSpPr>
          <p:cNvPr id="283" name="Google Shape;283;p31"/>
          <p:cNvSpPr txBox="1"/>
          <p:nvPr>
            <p:ph type="title"/>
          </p:nvPr>
        </p:nvSpPr>
        <p:spPr>
          <a:xfrm>
            <a:off x="1086025" y="337975"/>
            <a:ext cx="7038900" cy="54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OOP Concepts - Exception Handling</a:t>
            </a:r>
            <a:endParaRPr b="1" sz="2150">
              <a:solidFill>
                <a:schemeClr val="lt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2"/>
          <p:cNvSpPr txBox="1"/>
          <p:nvPr>
            <p:ph type="title"/>
          </p:nvPr>
        </p:nvSpPr>
        <p:spPr>
          <a:xfrm>
            <a:off x="1300575" y="811200"/>
            <a:ext cx="37440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sz="3200">
                <a:solidFill>
                  <a:schemeClr val="lt2"/>
                </a:solidFill>
              </a:rPr>
              <a:t>Reusability, </a:t>
            </a:r>
            <a:r>
              <a:rPr b="1" lang="en-GB" sz="3200">
                <a:solidFill>
                  <a:schemeClr val="lt2"/>
                </a:solidFill>
              </a:rPr>
              <a:t>Maintainability and </a:t>
            </a:r>
            <a:r>
              <a:rPr b="1" lang="en-GB" sz="3200">
                <a:solidFill>
                  <a:schemeClr val="lt2"/>
                </a:solidFill>
              </a:rPr>
              <a:t>Extensibility </a:t>
            </a:r>
            <a:endParaRPr b="1" sz="3200">
              <a:solidFill>
                <a:schemeClr val="lt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idx="1" type="body"/>
          </p:nvPr>
        </p:nvSpPr>
        <p:spPr>
          <a:xfrm>
            <a:off x="1086025" y="817050"/>
            <a:ext cx="7649400" cy="17547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Layered Design enables reuse across UIs</a:t>
            </a:r>
            <a:endParaRPr b="1"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The same services can power a future GUI or REST API without code duplication</a:t>
            </a:r>
            <a:endParaRPr>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Shared Utilities (SimpleInput and TablePrinter)</a:t>
            </a:r>
            <a:endParaRPr b="1"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Reused by StudentMenu, StaffMenu, and CompanyRepMenu</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Central Filter/Sort Pipeline</a:t>
            </a:r>
            <a:endParaRPr b="1"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No menu re-implements filtering or sorting</a:t>
            </a:r>
            <a:endParaRPr sz="1100">
              <a:latin typeface="Arial"/>
              <a:ea typeface="Arial"/>
              <a:cs typeface="Arial"/>
              <a:sym typeface="Arial"/>
            </a:endParaRPr>
          </a:p>
        </p:txBody>
      </p:sp>
      <p:sp>
        <p:nvSpPr>
          <p:cNvPr id="294" name="Google Shape;294;p33"/>
          <p:cNvSpPr txBox="1"/>
          <p:nvPr>
            <p:ph type="title"/>
          </p:nvPr>
        </p:nvSpPr>
        <p:spPr>
          <a:xfrm>
            <a:off x="1086025" y="337975"/>
            <a:ext cx="7038900" cy="54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Reusability</a:t>
            </a:r>
            <a:endParaRPr b="1" sz="2150">
              <a:solidFill>
                <a:schemeClr val="lt2"/>
              </a:solidFill>
            </a:endParaRPr>
          </a:p>
        </p:txBody>
      </p:sp>
      <p:sp>
        <p:nvSpPr>
          <p:cNvPr id="295" name="Google Shape;295;p33"/>
          <p:cNvSpPr txBox="1"/>
          <p:nvPr>
            <p:ph type="title"/>
          </p:nvPr>
        </p:nvSpPr>
        <p:spPr>
          <a:xfrm>
            <a:off x="1142275" y="2515650"/>
            <a:ext cx="7038900" cy="54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Maintainability</a:t>
            </a:r>
            <a:endParaRPr b="1" sz="2150">
              <a:solidFill>
                <a:schemeClr val="lt2"/>
              </a:solidFill>
            </a:endParaRPr>
          </a:p>
        </p:txBody>
      </p:sp>
      <p:sp>
        <p:nvSpPr>
          <p:cNvPr id="296" name="Google Shape;296;p33"/>
          <p:cNvSpPr txBox="1"/>
          <p:nvPr>
            <p:ph idx="1" type="body"/>
          </p:nvPr>
        </p:nvSpPr>
        <p:spPr>
          <a:xfrm>
            <a:off x="1142275" y="2976125"/>
            <a:ext cx="7649400" cy="19563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(SRP) Single responsibility per class.</a:t>
            </a:r>
            <a:r>
              <a:rPr lang="en-GB" sz="1100">
                <a:latin typeface="Arial"/>
                <a:ea typeface="Arial"/>
                <a:cs typeface="Arial"/>
                <a:sym typeface="Arial"/>
              </a:rPr>
              <a:t> </a:t>
            </a:r>
            <a:endParaRPr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sz="1100">
                <a:latin typeface="Arial"/>
                <a:ea typeface="Arial"/>
                <a:cs typeface="Arial"/>
                <a:sym typeface="Arial"/>
              </a:rPr>
              <a:t>UI, domain rules, and persistence are separated, reducing the reasons any file must change</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(OCP) Menus call abstractions (PreferenceStore) and service entry points</a:t>
            </a:r>
            <a:endParaRPr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N</a:t>
            </a:r>
            <a:r>
              <a:rPr lang="en-GB" sz="1100">
                <a:latin typeface="Arial"/>
                <a:ea typeface="Arial"/>
                <a:cs typeface="Arial"/>
                <a:sym typeface="Arial"/>
              </a:rPr>
              <a:t>eeding to just modify PreferenceService, not within the caller</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(LSP) Stable base contracts</a:t>
            </a:r>
            <a:endParaRPr b="1"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W</a:t>
            </a:r>
            <a:r>
              <a:rPr lang="en-GB" sz="1100">
                <a:latin typeface="Arial"/>
                <a:ea typeface="Arial"/>
                <a:cs typeface="Arial"/>
                <a:sym typeface="Arial"/>
              </a:rPr>
              <a:t>e do not have to keep fixing problems with Superclass / Subclass Usage</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(ISP/DIP) Means easier Unit Testing</a:t>
            </a:r>
            <a:endParaRPr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S</a:t>
            </a:r>
            <a:r>
              <a:rPr lang="en-GB" sz="1100">
                <a:latin typeface="Arial"/>
                <a:ea typeface="Arial"/>
                <a:cs typeface="Arial"/>
                <a:sym typeface="Arial"/>
              </a:rPr>
              <a:t>wapping alternate PreferenceStore without touching the rest of system</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Graceful failures and ease of debugging due to use of Exception Handling</a:t>
            </a:r>
            <a:endParaRPr b="1" sz="11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4"/>
          <p:cNvSpPr txBox="1"/>
          <p:nvPr>
            <p:ph idx="1" type="body"/>
          </p:nvPr>
        </p:nvSpPr>
        <p:spPr>
          <a:xfrm>
            <a:off x="1086025" y="878575"/>
            <a:ext cx="7865700" cy="37656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Ease of Adding New Listing Column</a:t>
            </a:r>
            <a:endParaRPr b="1"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Simply extend Column and map it once in PortalService (valueFor + comparatorFor)</a:t>
            </a:r>
            <a:endParaRPr>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All menus pick it up automatically through applyOppPrefs</a:t>
            </a:r>
            <a:endParaRPr>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Ease of Extending Business Functions</a:t>
            </a:r>
            <a:endParaRPr b="1"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Capacity, eligibility, and appeal policies reside in PortalService</a:t>
            </a:r>
            <a:endParaRPr>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New changes don’t spill into menus or persistence</a:t>
            </a:r>
            <a:endParaRPr>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Ease of Introducing new user roles (LSP)</a:t>
            </a:r>
            <a:endParaRPr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Subclass User (e.g., Alumni) and add role-specific behavior outside base contracts (e.g., policies in AuthService).</a:t>
            </a:r>
            <a:endParaRPr>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New preference backends with zero caller changes (OCP + DIP)</a:t>
            </a:r>
            <a:endParaRPr b="1"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GB">
                <a:latin typeface="Arial"/>
                <a:ea typeface="Arial"/>
                <a:cs typeface="Arial"/>
                <a:sym typeface="Arial"/>
              </a:rPr>
              <a:t>Swapping CSV to JSON/DB/encrypted/cache only changes the implementation/wiring, not the callers</a:t>
            </a:r>
            <a:endParaRPr>
              <a:latin typeface="Arial"/>
              <a:ea typeface="Arial"/>
              <a:cs typeface="Arial"/>
              <a:sym typeface="Arial"/>
            </a:endParaRPr>
          </a:p>
          <a:p>
            <a:pPr indent="0" lvl="0" marL="0" rtl="0" algn="l">
              <a:lnSpc>
                <a:spcPct val="115000"/>
              </a:lnSpc>
              <a:spcBef>
                <a:spcPts val="0"/>
              </a:spcBef>
              <a:spcAft>
                <a:spcPts val="0"/>
              </a:spcAft>
              <a:buNone/>
            </a:pPr>
            <a:r>
              <a:t/>
            </a:r>
            <a:endParaRPr>
              <a:latin typeface="Arial"/>
              <a:ea typeface="Arial"/>
              <a:cs typeface="Arial"/>
              <a:sym typeface="Arial"/>
            </a:endParaRPr>
          </a:p>
          <a:p>
            <a:pPr indent="457200" lvl="0" marL="0" rtl="0" algn="l">
              <a:lnSpc>
                <a:spcPct val="115000"/>
              </a:lnSpc>
              <a:spcBef>
                <a:spcPts val="0"/>
              </a:spcBef>
              <a:spcAft>
                <a:spcPts val="0"/>
              </a:spcAft>
              <a:buNone/>
            </a:pPr>
            <a:r>
              <a:rPr b="1" lang="en-GB" sz="1100">
                <a:solidFill>
                  <a:schemeClr val="lt2"/>
                </a:solidFill>
                <a:latin typeface="Arial"/>
                <a:ea typeface="Arial"/>
                <a:cs typeface="Arial"/>
                <a:sym typeface="Arial"/>
              </a:rPr>
              <a:t>**Good example of us exhibiting Extensibility is our Additional Feature - “Student’s Appeal”**</a:t>
            </a:r>
            <a:endParaRPr b="1" sz="1100">
              <a:solidFill>
                <a:schemeClr val="lt2"/>
              </a:solidFill>
              <a:latin typeface="Arial"/>
              <a:ea typeface="Arial"/>
              <a:cs typeface="Arial"/>
              <a:sym typeface="Arial"/>
            </a:endParaRPr>
          </a:p>
        </p:txBody>
      </p:sp>
      <p:sp>
        <p:nvSpPr>
          <p:cNvPr id="302" name="Google Shape;302;p34"/>
          <p:cNvSpPr txBox="1"/>
          <p:nvPr>
            <p:ph type="title"/>
          </p:nvPr>
        </p:nvSpPr>
        <p:spPr>
          <a:xfrm>
            <a:off x="1086025" y="337975"/>
            <a:ext cx="7038900" cy="54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Extensibility</a:t>
            </a:r>
            <a:endParaRPr b="1" sz="2150">
              <a:solidFill>
                <a:schemeClr val="l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5"/>
          <p:cNvSpPr txBox="1"/>
          <p:nvPr>
            <p:ph type="title"/>
          </p:nvPr>
        </p:nvSpPr>
        <p:spPr>
          <a:xfrm>
            <a:off x="1260500" y="811200"/>
            <a:ext cx="45189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sz="3200">
                <a:solidFill>
                  <a:schemeClr val="lt2"/>
                </a:solidFill>
              </a:rPr>
              <a:t>Additional Feature</a:t>
            </a:r>
            <a:endParaRPr b="1" sz="3200">
              <a:solidFill>
                <a:schemeClr val="lt2"/>
              </a:solidFill>
            </a:endParaRPr>
          </a:p>
          <a:p>
            <a:pPr indent="0" lvl="0" marL="0" rtl="0" algn="l">
              <a:spcBef>
                <a:spcPts val="0"/>
              </a:spcBef>
              <a:spcAft>
                <a:spcPts val="0"/>
              </a:spcAft>
              <a:buNone/>
            </a:pPr>
            <a:r>
              <a:rPr b="1" lang="en-GB" sz="3200">
                <a:solidFill>
                  <a:schemeClr val="lt2"/>
                </a:solidFill>
              </a:rPr>
              <a:t>“Student’s Appeal”</a:t>
            </a:r>
            <a:endParaRPr b="1" sz="3200">
              <a:solidFill>
                <a:schemeClr val="lt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6"/>
          <p:cNvSpPr txBox="1"/>
          <p:nvPr>
            <p:ph idx="1" type="body"/>
          </p:nvPr>
        </p:nvSpPr>
        <p:spPr>
          <a:xfrm>
            <a:off x="1086025" y="878575"/>
            <a:ext cx="7865700" cy="41181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Case Example:</a:t>
            </a:r>
            <a:endParaRPr b="1" sz="1100">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lang="en-GB">
                <a:latin typeface="Arial"/>
                <a:ea typeface="Arial"/>
                <a:cs typeface="Arial"/>
                <a:sym typeface="Arial"/>
              </a:rPr>
              <a:t>Ng Jia Hao has 3 unsuccessful applications and wishes to appeal for 1 of them </a:t>
            </a:r>
            <a:endParaRPr>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298450" lvl="0" marL="914400" rtl="0" algn="l">
              <a:lnSpc>
                <a:spcPct val="100000"/>
              </a:lnSpc>
              <a:spcBef>
                <a:spcPts val="0"/>
              </a:spcBef>
              <a:spcAft>
                <a:spcPts val="0"/>
              </a:spcAft>
              <a:buSzPts val="1100"/>
              <a:buFont typeface="Arial"/>
              <a:buChar char="○"/>
            </a:pPr>
            <a:r>
              <a:rPr lang="en-GB" sz="1100">
                <a:latin typeface="Arial"/>
                <a:ea typeface="Arial"/>
                <a:cs typeface="Arial"/>
                <a:sym typeface="Arial"/>
              </a:rPr>
              <a:t>He selects the application to appeal and enters appeal message (1 to 100 words)</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298450" lvl="0" marL="914400" rtl="0" algn="l">
              <a:lnSpc>
                <a:spcPct val="100000"/>
              </a:lnSpc>
              <a:spcBef>
                <a:spcPts val="0"/>
              </a:spcBef>
              <a:spcAft>
                <a:spcPts val="0"/>
              </a:spcAft>
              <a:buSzPts val="1100"/>
              <a:buFont typeface="Arial"/>
              <a:buChar char="○"/>
            </a:pPr>
            <a:r>
              <a:rPr lang="en-GB" sz="1100">
                <a:latin typeface="Arial"/>
                <a:ea typeface="Arial"/>
                <a:cs typeface="Arial"/>
                <a:sym typeface="Arial"/>
              </a:rPr>
              <a:t>List of Applications updated and shows “APPEALING” Status</a:t>
            </a:r>
            <a:endParaRPr sz="1100">
              <a:latin typeface="Arial"/>
              <a:ea typeface="Arial"/>
              <a:cs typeface="Arial"/>
              <a:sym typeface="Arial"/>
            </a:endParaRPr>
          </a:p>
        </p:txBody>
      </p:sp>
      <p:sp>
        <p:nvSpPr>
          <p:cNvPr id="313" name="Google Shape;313;p36"/>
          <p:cNvSpPr txBox="1"/>
          <p:nvPr>
            <p:ph type="title"/>
          </p:nvPr>
        </p:nvSpPr>
        <p:spPr>
          <a:xfrm>
            <a:off x="1086025" y="337975"/>
            <a:ext cx="7038900" cy="54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“Student’s Appeal” Demo</a:t>
            </a:r>
            <a:endParaRPr b="1" sz="2150">
              <a:solidFill>
                <a:schemeClr val="lt2"/>
              </a:solidFill>
            </a:endParaRPr>
          </a:p>
        </p:txBody>
      </p:sp>
      <p:pic>
        <p:nvPicPr>
          <p:cNvPr id="314" name="Google Shape;314;p36" title="Screenshot 2025-11-14 170947.png"/>
          <p:cNvPicPr preferRelativeResize="0"/>
          <p:nvPr/>
        </p:nvPicPr>
        <p:blipFill>
          <a:blip r:embed="rId3">
            <a:alphaModFix/>
          </a:blip>
          <a:stretch>
            <a:fillRect/>
          </a:stretch>
        </p:blipFill>
        <p:spPr>
          <a:xfrm>
            <a:off x="2135659" y="1486038"/>
            <a:ext cx="5972141" cy="590350"/>
          </a:xfrm>
          <a:prstGeom prst="rect">
            <a:avLst/>
          </a:prstGeom>
          <a:noFill/>
          <a:ln>
            <a:noFill/>
          </a:ln>
        </p:spPr>
      </p:pic>
      <p:pic>
        <p:nvPicPr>
          <p:cNvPr id="315" name="Google Shape;315;p36" title="Screenshot 2025-11-14 171244.png"/>
          <p:cNvPicPr preferRelativeResize="0"/>
          <p:nvPr/>
        </p:nvPicPr>
        <p:blipFill>
          <a:blip r:embed="rId4">
            <a:alphaModFix/>
          </a:blip>
          <a:stretch>
            <a:fillRect/>
          </a:stretch>
        </p:blipFill>
        <p:spPr>
          <a:xfrm>
            <a:off x="2135651" y="2523600"/>
            <a:ext cx="4939650" cy="1054875"/>
          </a:xfrm>
          <a:prstGeom prst="rect">
            <a:avLst/>
          </a:prstGeom>
          <a:noFill/>
          <a:ln>
            <a:noFill/>
          </a:ln>
        </p:spPr>
      </p:pic>
      <p:pic>
        <p:nvPicPr>
          <p:cNvPr id="316" name="Google Shape;316;p36" title="Screenshot 2025-11-14 171502.png"/>
          <p:cNvPicPr preferRelativeResize="0"/>
          <p:nvPr/>
        </p:nvPicPr>
        <p:blipFill rotWithShape="1">
          <a:blip r:embed="rId5">
            <a:alphaModFix/>
          </a:blip>
          <a:srcRect b="0" l="0" r="31488" t="0"/>
          <a:stretch/>
        </p:blipFill>
        <p:spPr>
          <a:xfrm>
            <a:off x="2142700" y="3965625"/>
            <a:ext cx="5752351" cy="590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7"/>
          <p:cNvSpPr txBox="1"/>
          <p:nvPr>
            <p:ph idx="1" type="body"/>
          </p:nvPr>
        </p:nvSpPr>
        <p:spPr>
          <a:xfrm>
            <a:off x="1086025" y="878575"/>
            <a:ext cx="7865700" cy="34851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Case Example:</a:t>
            </a:r>
            <a:endParaRPr b="1" sz="1100">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lang="en-GB">
                <a:latin typeface="Arial"/>
                <a:ea typeface="Arial"/>
                <a:cs typeface="Arial"/>
                <a:sym typeface="Arial"/>
              </a:rPr>
              <a:t>Samsung’s Company Representative List of Opportunities Updated</a:t>
            </a:r>
            <a:endParaRPr>
              <a:latin typeface="Arial"/>
              <a:ea typeface="Arial"/>
              <a:cs typeface="Arial"/>
              <a:sym typeface="Arial"/>
            </a:endParaRPr>
          </a:p>
          <a:p>
            <a:pPr indent="0" lvl="0" marL="914400" rtl="0" algn="l">
              <a:lnSpc>
                <a:spcPct val="100000"/>
              </a:lnSpc>
              <a:spcBef>
                <a:spcPts val="0"/>
              </a:spcBef>
              <a:spcAft>
                <a:spcPts val="0"/>
              </a:spcAft>
              <a:buNone/>
            </a:pPr>
            <a:r>
              <a:t/>
            </a:r>
            <a:endParaRPr>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298450" lvl="0" marL="914400" rtl="0" algn="l">
              <a:lnSpc>
                <a:spcPct val="100000"/>
              </a:lnSpc>
              <a:spcBef>
                <a:spcPts val="0"/>
              </a:spcBef>
              <a:spcAft>
                <a:spcPts val="0"/>
              </a:spcAft>
              <a:buSzPts val="1100"/>
              <a:buFont typeface="Arial"/>
              <a:buChar char="○"/>
            </a:pPr>
            <a:r>
              <a:rPr lang="en-GB" sz="1100">
                <a:latin typeface="Arial"/>
                <a:ea typeface="Arial"/>
                <a:cs typeface="Arial"/>
                <a:sym typeface="Arial"/>
              </a:rPr>
              <a:t>Appeal is reviewed and being Approved</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298450" lvl="0" marL="914400" rtl="0" algn="l">
              <a:lnSpc>
                <a:spcPct val="100000"/>
              </a:lnSpc>
              <a:spcBef>
                <a:spcPts val="0"/>
              </a:spcBef>
              <a:spcAft>
                <a:spcPts val="0"/>
              </a:spcAft>
              <a:buSzPts val="1100"/>
              <a:buFont typeface="Arial"/>
              <a:buChar char="○"/>
            </a:pPr>
            <a:r>
              <a:rPr lang="en-GB" sz="1100">
                <a:latin typeface="Arial"/>
                <a:ea typeface="Arial"/>
                <a:cs typeface="Arial"/>
                <a:sym typeface="Arial"/>
              </a:rPr>
              <a:t>Ng Jia Hao’s List of Applications is being updated accordingly</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p:txBody>
      </p:sp>
      <p:sp>
        <p:nvSpPr>
          <p:cNvPr id="322" name="Google Shape;322;p37"/>
          <p:cNvSpPr txBox="1"/>
          <p:nvPr>
            <p:ph type="title"/>
          </p:nvPr>
        </p:nvSpPr>
        <p:spPr>
          <a:xfrm>
            <a:off x="1086025" y="337975"/>
            <a:ext cx="7038900" cy="54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“Student’s Appeal” Demo</a:t>
            </a:r>
            <a:endParaRPr b="1" sz="2150">
              <a:solidFill>
                <a:schemeClr val="lt2"/>
              </a:solidFill>
            </a:endParaRPr>
          </a:p>
        </p:txBody>
      </p:sp>
      <p:pic>
        <p:nvPicPr>
          <p:cNvPr id="323" name="Google Shape;323;p37" title="Screenshot 2025-11-14 171824.png"/>
          <p:cNvPicPr preferRelativeResize="0"/>
          <p:nvPr/>
        </p:nvPicPr>
        <p:blipFill>
          <a:blip r:embed="rId3">
            <a:alphaModFix/>
          </a:blip>
          <a:stretch>
            <a:fillRect/>
          </a:stretch>
        </p:blipFill>
        <p:spPr>
          <a:xfrm>
            <a:off x="1862875" y="1424728"/>
            <a:ext cx="6219726" cy="641250"/>
          </a:xfrm>
          <a:prstGeom prst="rect">
            <a:avLst/>
          </a:prstGeom>
          <a:noFill/>
          <a:ln>
            <a:noFill/>
          </a:ln>
        </p:spPr>
      </p:pic>
      <p:pic>
        <p:nvPicPr>
          <p:cNvPr id="324" name="Google Shape;324;p37"/>
          <p:cNvPicPr preferRelativeResize="0"/>
          <p:nvPr/>
        </p:nvPicPr>
        <p:blipFill>
          <a:blip r:embed="rId4">
            <a:alphaModFix/>
          </a:blip>
          <a:stretch>
            <a:fillRect/>
          </a:stretch>
        </p:blipFill>
        <p:spPr>
          <a:xfrm>
            <a:off x="1862863" y="2443900"/>
            <a:ext cx="6312050" cy="732719"/>
          </a:xfrm>
          <a:prstGeom prst="rect">
            <a:avLst/>
          </a:prstGeom>
          <a:noFill/>
          <a:ln>
            <a:noFill/>
          </a:ln>
        </p:spPr>
      </p:pic>
      <p:pic>
        <p:nvPicPr>
          <p:cNvPr id="325" name="Google Shape;325;p37"/>
          <p:cNvPicPr preferRelativeResize="0"/>
          <p:nvPr/>
        </p:nvPicPr>
        <p:blipFill>
          <a:blip r:embed="rId5">
            <a:alphaModFix/>
          </a:blip>
          <a:stretch>
            <a:fillRect/>
          </a:stretch>
        </p:blipFill>
        <p:spPr>
          <a:xfrm>
            <a:off x="1862875" y="3506497"/>
            <a:ext cx="6641473" cy="67972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8"/>
          <p:cNvSpPr txBox="1"/>
          <p:nvPr>
            <p:ph idx="1" type="body"/>
          </p:nvPr>
        </p:nvSpPr>
        <p:spPr>
          <a:xfrm>
            <a:off x="1086025" y="878575"/>
            <a:ext cx="7865700" cy="4198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Font typeface="Arial"/>
              <a:buChar char="●"/>
            </a:pPr>
            <a:r>
              <a:rPr b="1" lang="en-GB" sz="1100">
                <a:latin typeface="Arial"/>
                <a:ea typeface="Arial"/>
                <a:cs typeface="Arial"/>
                <a:sym typeface="Arial"/>
              </a:rPr>
              <a:t>Case Example:</a:t>
            </a:r>
            <a:endParaRPr b="1" sz="1100">
              <a:latin typeface="Arial"/>
              <a:ea typeface="Arial"/>
              <a:cs typeface="Arial"/>
              <a:sym typeface="Arial"/>
            </a:endParaRPr>
          </a:p>
          <a:p>
            <a:pPr indent="-298450" lvl="1" marL="914400" rtl="0" algn="l">
              <a:lnSpc>
                <a:spcPct val="100000"/>
              </a:lnSpc>
              <a:spcBef>
                <a:spcPts val="0"/>
              </a:spcBef>
              <a:spcAft>
                <a:spcPts val="0"/>
              </a:spcAft>
              <a:buSzPts val="1100"/>
              <a:buFont typeface="Arial"/>
              <a:buChar char="○"/>
            </a:pPr>
            <a:r>
              <a:rPr lang="en-GB">
                <a:latin typeface="Arial"/>
                <a:ea typeface="Arial"/>
                <a:cs typeface="Arial"/>
                <a:sym typeface="Arial"/>
              </a:rPr>
              <a:t>Samsung’s Company Representative List of Opportunities Updated</a:t>
            </a:r>
            <a:endParaRPr>
              <a:latin typeface="Arial"/>
              <a:ea typeface="Arial"/>
              <a:cs typeface="Arial"/>
              <a:sym typeface="Arial"/>
            </a:endParaRPr>
          </a:p>
          <a:p>
            <a:pPr indent="0" lvl="0" marL="914400" rtl="0" algn="l">
              <a:lnSpc>
                <a:spcPct val="100000"/>
              </a:lnSpc>
              <a:spcBef>
                <a:spcPts val="0"/>
              </a:spcBef>
              <a:spcAft>
                <a:spcPts val="0"/>
              </a:spcAft>
              <a:buNone/>
            </a:pPr>
            <a:r>
              <a:t/>
            </a:r>
            <a:endParaRPr>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298450" lvl="0" marL="914400" rtl="0" algn="l">
              <a:lnSpc>
                <a:spcPct val="100000"/>
              </a:lnSpc>
              <a:spcBef>
                <a:spcPts val="0"/>
              </a:spcBef>
              <a:spcAft>
                <a:spcPts val="0"/>
              </a:spcAft>
              <a:buSzPts val="1100"/>
              <a:buFont typeface="Arial"/>
              <a:buChar char="○"/>
            </a:pPr>
            <a:r>
              <a:rPr lang="en-GB" sz="1100">
                <a:latin typeface="Arial"/>
                <a:ea typeface="Arial"/>
                <a:cs typeface="Arial"/>
                <a:sym typeface="Arial"/>
              </a:rPr>
              <a:t>Appeal is reviewed and being Approved</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298450" lvl="0" marL="914400" rtl="0" algn="l">
              <a:lnSpc>
                <a:spcPct val="100000"/>
              </a:lnSpc>
              <a:spcBef>
                <a:spcPts val="0"/>
              </a:spcBef>
              <a:spcAft>
                <a:spcPts val="0"/>
              </a:spcAft>
              <a:buSzPts val="1100"/>
              <a:buFont typeface="Arial"/>
              <a:buChar char="○"/>
            </a:pPr>
            <a:r>
              <a:rPr lang="en-GB" sz="1100">
                <a:latin typeface="Arial"/>
                <a:ea typeface="Arial"/>
                <a:cs typeface="Arial"/>
                <a:sym typeface="Arial"/>
              </a:rPr>
              <a:t>Ng Jia Hao’s List of Applications is being updated accordingly</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a:p>
            <a:pPr indent="-298450" lvl="0" marL="914400" rtl="0" algn="l">
              <a:lnSpc>
                <a:spcPct val="100000"/>
              </a:lnSpc>
              <a:spcBef>
                <a:spcPts val="0"/>
              </a:spcBef>
              <a:spcAft>
                <a:spcPts val="0"/>
              </a:spcAft>
              <a:buSzPts val="1100"/>
              <a:buFont typeface="Arial"/>
              <a:buChar char="○"/>
            </a:pPr>
            <a:r>
              <a:rPr lang="en-GB" sz="1100">
                <a:latin typeface="Arial"/>
                <a:ea typeface="Arial"/>
                <a:cs typeface="Arial"/>
                <a:sym typeface="Arial"/>
              </a:rPr>
              <a:t>Ng Jia Hao accepts the Internship Opportunity Successfully</a:t>
            </a:r>
            <a:endParaRPr sz="1100">
              <a:latin typeface="Arial"/>
              <a:ea typeface="Arial"/>
              <a:cs typeface="Arial"/>
              <a:sym typeface="Arial"/>
            </a:endParaRPr>
          </a:p>
          <a:p>
            <a:pPr indent="0" lvl="0" marL="914400" rtl="0" algn="l">
              <a:lnSpc>
                <a:spcPct val="100000"/>
              </a:lnSpc>
              <a:spcBef>
                <a:spcPts val="0"/>
              </a:spcBef>
              <a:spcAft>
                <a:spcPts val="0"/>
              </a:spcAft>
              <a:buNone/>
            </a:pPr>
            <a:r>
              <a:t/>
            </a:r>
            <a:endParaRPr sz="1100">
              <a:latin typeface="Arial"/>
              <a:ea typeface="Arial"/>
              <a:cs typeface="Arial"/>
              <a:sym typeface="Arial"/>
            </a:endParaRPr>
          </a:p>
        </p:txBody>
      </p:sp>
      <p:sp>
        <p:nvSpPr>
          <p:cNvPr id="331" name="Google Shape;331;p38"/>
          <p:cNvSpPr txBox="1"/>
          <p:nvPr>
            <p:ph type="title"/>
          </p:nvPr>
        </p:nvSpPr>
        <p:spPr>
          <a:xfrm>
            <a:off x="1086025" y="337975"/>
            <a:ext cx="7038900" cy="54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150">
                <a:solidFill>
                  <a:schemeClr val="lt2"/>
                </a:solidFill>
              </a:rPr>
              <a:t>“Student’s Appeal” Demo</a:t>
            </a:r>
            <a:endParaRPr b="1" sz="2150">
              <a:solidFill>
                <a:schemeClr val="lt2"/>
              </a:solidFill>
            </a:endParaRPr>
          </a:p>
        </p:txBody>
      </p:sp>
      <p:pic>
        <p:nvPicPr>
          <p:cNvPr id="332" name="Google Shape;332;p38" title="Screenshot 2025-11-14 171824.png"/>
          <p:cNvPicPr preferRelativeResize="0"/>
          <p:nvPr/>
        </p:nvPicPr>
        <p:blipFill>
          <a:blip r:embed="rId3">
            <a:alphaModFix/>
          </a:blip>
          <a:stretch>
            <a:fillRect/>
          </a:stretch>
        </p:blipFill>
        <p:spPr>
          <a:xfrm>
            <a:off x="1913237" y="1408700"/>
            <a:ext cx="6211299" cy="640375"/>
          </a:xfrm>
          <a:prstGeom prst="rect">
            <a:avLst/>
          </a:prstGeom>
          <a:noFill/>
          <a:ln>
            <a:noFill/>
          </a:ln>
        </p:spPr>
      </p:pic>
      <p:pic>
        <p:nvPicPr>
          <p:cNvPr id="333" name="Google Shape;333;p38"/>
          <p:cNvPicPr preferRelativeResize="0"/>
          <p:nvPr/>
        </p:nvPicPr>
        <p:blipFill>
          <a:blip r:embed="rId4">
            <a:alphaModFix/>
          </a:blip>
          <a:stretch>
            <a:fillRect/>
          </a:stretch>
        </p:blipFill>
        <p:spPr>
          <a:xfrm>
            <a:off x="1913225" y="2443900"/>
            <a:ext cx="6211299" cy="721033"/>
          </a:xfrm>
          <a:prstGeom prst="rect">
            <a:avLst/>
          </a:prstGeom>
          <a:noFill/>
          <a:ln>
            <a:noFill/>
          </a:ln>
        </p:spPr>
      </p:pic>
      <p:pic>
        <p:nvPicPr>
          <p:cNvPr id="334" name="Google Shape;334;p38"/>
          <p:cNvPicPr preferRelativeResize="0"/>
          <p:nvPr/>
        </p:nvPicPr>
        <p:blipFill>
          <a:blip r:embed="rId5">
            <a:alphaModFix/>
          </a:blip>
          <a:stretch>
            <a:fillRect/>
          </a:stretch>
        </p:blipFill>
        <p:spPr>
          <a:xfrm>
            <a:off x="1913225" y="3430500"/>
            <a:ext cx="6257266" cy="640375"/>
          </a:xfrm>
          <a:prstGeom prst="rect">
            <a:avLst/>
          </a:prstGeom>
          <a:noFill/>
          <a:ln>
            <a:noFill/>
          </a:ln>
        </p:spPr>
      </p:pic>
      <p:pic>
        <p:nvPicPr>
          <p:cNvPr id="335" name="Google Shape;335;p38" title="Screenshot 2025-11-14 172353.png"/>
          <p:cNvPicPr preferRelativeResize="0"/>
          <p:nvPr/>
        </p:nvPicPr>
        <p:blipFill>
          <a:blip r:embed="rId6">
            <a:alphaModFix/>
          </a:blip>
          <a:stretch>
            <a:fillRect/>
          </a:stretch>
        </p:blipFill>
        <p:spPr>
          <a:xfrm>
            <a:off x="1913225" y="4400875"/>
            <a:ext cx="6257276" cy="52383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9"/>
          <p:cNvSpPr txBox="1"/>
          <p:nvPr>
            <p:ph type="title"/>
          </p:nvPr>
        </p:nvSpPr>
        <p:spPr>
          <a:xfrm>
            <a:off x="1260500" y="811200"/>
            <a:ext cx="45189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sz="3200">
                <a:solidFill>
                  <a:schemeClr val="lt2"/>
                </a:solidFill>
              </a:rPr>
              <a:t>Frontend GUI Demo</a:t>
            </a:r>
            <a:endParaRPr b="1" sz="3200">
              <a:solidFill>
                <a:schemeClr val="lt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0"/>
          <p:cNvSpPr txBox="1"/>
          <p:nvPr>
            <p:ph type="title"/>
          </p:nvPr>
        </p:nvSpPr>
        <p:spPr>
          <a:xfrm>
            <a:off x="1086022" y="337975"/>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2"/>
                </a:solidFill>
              </a:rPr>
              <a:t>Frontend GUI Demo - </a:t>
            </a:r>
            <a:r>
              <a:rPr b="1" lang="en-GB">
                <a:solidFill>
                  <a:schemeClr val="lt2"/>
                </a:solidFill>
              </a:rPr>
              <a:t>Login Page</a:t>
            </a:r>
            <a:endParaRPr b="1">
              <a:solidFill>
                <a:schemeClr val="lt2"/>
              </a:solidFill>
            </a:endParaRPr>
          </a:p>
        </p:txBody>
      </p:sp>
      <p:pic>
        <p:nvPicPr>
          <p:cNvPr id="346" name="Google Shape;346;p40" title="Screenshot 2025-11-13 at 1.35.35 AM.png"/>
          <p:cNvPicPr preferRelativeResize="0"/>
          <p:nvPr/>
        </p:nvPicPr>
        <p:blipFill>
          <a:blip r:embed="rId3">
            <a:alphaModFix/>
          </a:blip>
          <a:stretch>
            <a:fillRect/>
          </a:stretch>
        </p:blipFill>
        <p:spPr>
          <a:xfrm>
            <a:off x="1685273" y="1508450"/>
            <a:ext cx="5773450" cy="31517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41"/>
          <p:cNvPicPr preferRelativeResize="0"/>
          <p:nvPr/>
        </p:nvPicPr>
        <p:blipFill>
          <a:blip r:embed="rId3">
            <a:alphaModFix/>
          </a:blip>
          <a:stretch>
            <a:fillRect/>
          </a:stretch>
        </p:blipFill>
        <p:spPr>
          <a:xfrm>
            <a:off x="2428775" y="1252075"/>
            <a:ext cx="4286450" cy="3622625"/>
          </a:xfrm>
          <a:prstGeom prst="rect">
            <a:avLst/>
          </a:prstGeom>
          <a:noFill/>
          <a:ln>
            <a:noFill/>
          </a:ln>
        </p:spPr>
      </p:pic>
      <p:sp>
        <p:nvSpPr>
          <p:cNvPr id="352" name="Google Shape;352;p41"/>
          <p:cNvSpPr txBox="1"/>
          <p:nvPr>
            <p:ph type="title"/>
          </p:nvPr>
        </p:nvSpPr>
        <p:spPr>
          <a:xfrm>
            <a:off x="1086025" y="337975"/>
            <a:ext cx="72168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2"/>
                </a:solidFill>
              </a:rPr>
              <a:t>Frontend GUI Demo - </a:t>
            </a:r>
            <a:endParaRPr b="1">
              <a:solidFill>
                <a:schemeClr val="lt2"/>
              </a:solidFill>
            </a:endParaRPr>
          </a:p>
          <a:p>
            <a:pPr indent="0" lvl="0" marL="0" rtl="0" algn="l">
              <a:spcBef>
                <a:spcPts val="0"/>
              </a:spcBef>
              <a:spcAft>
                <a:spcPts val="0"/>
              </a:spcAft>
              <a:buNone/>
            </a:pPr>
            <a:r>
              <a:rPr b="1" lang="en-GB">
                <a:solidFill>
                  <a:schemeClr val="lt2"/>
                </a:solidFill>
              </a:rPr>
              <a:t>Register New Company Representatives</a:t>
            </a:r>
            <a:endParaRPr b="1">
              <a:solidFill>
                <a:schemeClr val="lt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42"/>
          <p:cNvPicPr preferRelativeResize="0"/>
          <p:nvPr/>
        </p:nvPicPr>
        <p:blipFill>
          <a:blip r:embed="rId3">
            <a:alphaModFix/>
          </a:blip>
          <a:stretch>
            <a:fillRect/>
          </a:stretch>
        </p:blipFill>
        <p:spPr>
          <a:xfrm>
            <a:off x="249850" y="1572825"/>
            <a:ext cx="4058725" cy="2891400"/>
          </a:xfrm>
          <a:prstGeom prst="rect">
            <a:avLst/>
          </a:prstGeom>
          <a:noFill/>
          <a:ln>
            <a:noFill/>
          </a:ln>
        </p:spPr>
      </p:pic>
      <p:pic>
        <p:nvPicPr>
          <p:cNvPr id="358" name="Google Shape;358;p42"/>
          <p:cNvPicPr preferRelativeResize="0"/>
          <p:nvPr/>
        </p:nvPicPr>
        <p:blipFill>
          <a:blip r:embed="rId4">
            <a:alphaModFix/>
          </a:blip>
          <a:stretch>
            <a:fillRect/>
          </a:stretch>
        </p:blipFill>
        <p:spPr>
          <a:xfrm>
            <a:off x="4422575" y="1572825"/>
            <a:ext cx="4527200" cy="2891400"/>
          </a:xfrm>
          <a:prstGeom prst="rect">
            <a:avLst/>
          </a:prstGeom>
          <a:noFill/>
          <a:ln>
            <a:noFill/>
          </a:ln>
        </p:spPr>
      </p:pic>
      <p:sp>
        <p:nvSpPr>
          <p:cNvPr id="359" name="Google Shape;359;p42"/>
          <p:cNvSpPr txBox="1"/>
          <p:nvPr>
            <p:ph type="title"/>
          </p:nvPr>
        </p:nvSpPr>
        <p:spPr>
          <a:xfrm>
            <a:off x="1086025" y="337975"/>
            <a:ext cx="76254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2"/>
                </a:solidFill>
              </a:rPr>
              <a:t>Frontend GUI Demo - </a:t>
            </a:r>
            <a:endParaRPr b="1">
              <a:solidFill>
                <a:schemeClr val="lt2"/>
              </a:solidFill>
            </a:endParaRPr>
          </a:p>
          <a:p>
            <a:pPr indent="0" lvl="0" marL="0" rtl="0" algn="l">
              <a:spcBef>
                <a:spcPts val="0"/>
              </a:spcBef>
              <a:spcAft>
                <a:spcPts val="0"/>
              </a:spcAft>
              <a:buNone/>
            </a:pPr>
            <a:r>
              <a:rPr b="1" lang="en-GB">
                <a:solidFill>
                  <a:schemeClr val="lt2"/>
                </a:solidFill>
              </a:rPr>
              <a:t>Student Menu (Opportunities / Applications)</a:t>
            </a:r>
            <a:endParaRPr b="1">
              <a:solidFill>
                <a:schemeClr val="lt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id="364" name="Google Shape;364;p43"/>
          <p:cNvPicPr preferRelativeResize="0"/>
          <p:nvPr/>
        </p:nvPicPr>
        <p:blipFill>
          <a:blip r:embed="rId3">
            <a:alphaModFix/>
          </a:blip>
          <a:stretch>
            <a:fillRect/>
          </a:stretch>
        </p:blipFill>
        <p:spPr>
          <a:xfrm>
            <a:off x="322650" y="1572825"/>
            <a:ext cx="4097175" cy="2574325"/>
          </a:xfrm>
          <a:prstGeom prst="rect">
            <a:avLst/>
          </a:prstGeom>
          <a:noFill/>
          <a:ln>
            <a:noFill/>
          </a:ln>
        </p:spPr>
      </p:pic>
      <p:pic>
        <p:nvPicPr>
          <p:cNvPr id="365" name="Google Shape;365;p43"/>
          <p:cNvPicPr preferRelativeResize="0"/>
          <p:nvPr/>
        </p:nvPicPr>
        <p:blipFill>
          <a:blip r:embed="rId4">
            <a:alphaModFix/>
          </a:blip>
          <a:stretch>
            <a:fillRect/>
          </a:stretch>
        </p:blipFill>
        <p:spPr>
          <a:xfrm>
            <a:off x="4531950" y="2105025"/>
            <a:ext cx="4369900" cy="1509925"/>
          </a:xfrm>
          <a:prstGeom prst="rect">
            <a:avLst/>
          </a:prstGeom>
          <a:noFill/>
          <a:ln>
            <a:noFill/>
          </a:ln>
        </p:spPr>
      </p:pic>
      <p:sp>
        <p:nvSpPr>
          <p:cNvPr id="366" name="Google Shape;366;p43"/>
          <p:cNvSpPr txBox="1"/>
          <p:nvPr>
            <p:ph type="title"/>
          </p:nvPr>
        </p:nvSpPr>
        <p:spPr>
          <a:xfrm>
            <a:off x="1086022" y="337975"/>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2"/>
                </a:solidFill>
              </a:rPr>
              <a:t>Frontend GUI Demo - </a:t>
            </a:r>
            <a:endParaRPr b="1">
              <a:solidFill>
                <a:schemeClr val="lt2"/>
              </a:solidFill>
            </a:endParaRPr>
          </a:p>
          <a:p>
            <a:pPr indent="0" lvl="0" marL="0" rtl="0" algn="l">
              <a:spcBef>
                <a:spcPts val="0"/>
              </a:spcBef>
              <a:spcAft>
                <a:spcPts val="0"/>
              </a:spcAft>
              <a:buNone/>
            </a:pPr>
            <a:r>
              <a:rPr b="1" lang="en-GB">
                <a:solidFill>
                  <a:schemeClr val="lt2"/>
                </a:solidFill>
              </a:rPr>
              <a:t>Student Menu (Appeal / Accept Offers)</a:t>
            </a:r>
            <a:endParaRPr b="1">
              <a:solidFill>
                <a:schemeClr val="lt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44"/>
          <p:cNvPicPr preferRelativeResize="0"/>
          <p:nvPr/>
        </p:nvPicPr>
        <p:blipFill>
          <a:blip r:embed="rId3">
            <a:alphaModFix/>
          </a:blip>
          <a:stretch>
            <a:fillRect/>
          </a:stretch>
        </p:blipFill>
        <p:spPr>
          <a:xfrm>
            <a:off x="2013975" y="1425850"/>
            <a:ext cx="5116050" cy="3340700"/>
          </a:xfrm>
          <a:prstGeom prst="rect">
            <a:avLst/>
          </a:prstGeom>
          <a:noFill/>
          <a:ln>
            <a:noFill/>
          </a:ln>
        </p:spPr>
      </p:pic>
      <p:sp>
        <p:nvSpPr>
          <p:cNvPr id="372" name="Google Shape;372;p44"/>
          <p:cNvSpPr txBox="1"/>
          <p:nvPr>
            <p:ph type="title"/>
          </p:nvPr>
        </p:nvSpPr>
        <p:spPr>
          <a:xfrm>
            <a:off x="1086022" y="337975"/>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2"/>
                </a:solidFill>
              </a:rPr>
              <a:t>Frontend GUI Demo - </a:t>
            </a:r>
            <a:endParaRPr b="1">
              <a:solidFill>
                <a:schemeClr val="lt2"/>
              </a:solidFill>
            </a:endParaRPr>
          </a:p>
          <a:p>
            <a:pPr indent="0" lvl="0" marL="0" rtl="0" algn="l">
              <a:spcBef>
                <a:spcPts val="0"/>
              </a:spcBef>
              <a:spcAft>
                <a:spcPts val="0"/>
              </a:spcAft>
              <a:buNone/>
            </a:pPr>
            <a:r>
              <a:rPr b="1" lang="en-GB">
                <a:solidFill>
                  <a:schemeClr val="lt2"/>
                </a:solidFill>
              </a:rPr>
              <a:t>Staff Menu (Approve/Reject)</a:t>
            </a:r>
            <a:endParaRPr b="1">
              <a:solidFill>
                <a:schemeClr val="lt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id="377" name="Google Shape;377;p45"/>
          <p:cNvPicPr preferRelativeResize="0"/>
          <p:nvPr/>
        </p:nvPicPr>
        <p:blipFill>
          <a:blip r:embed="rId3">
            <a:alphaModFix/>
          </a:blip>
          <a:stretch>
            <a:fillRect/>
          </a:stretch>
        </p:blipFill>
        <p:spPr>
          <a:xfrm>
            <a:off x="486475" y="1647150"/>
            <a:ext cx="4085525" cy="2332300"/>
          </a:xfrm>
          <a:prstGeom prst="rect">
            <a:avLst/>
          </a:prstGeom>
          <a:noFill/>
          <a:ln>
            <a:noFill/>
          </a:ln>
        </p:spPr>
      </p:pic>
      <p:pic>
        <p:nvPicPr>
          <p:cNvPr id="378" name="Google Shape;378;p45"/>
          <p:cNvPicPr preferRelativeResize="0"/>
          <p:nvPr/>
        </p:nvPicPr>
        <p:blipFill>
          <a:blip r:embed="rId4">
            <a:alphaModFix/>
          </a:blip>
          <a:stretch>
            <a:fillRect/>
          </a:stretch>
        </p:blipFill>
        <p:spPr>
          <a:xfrm>
            <a:off x="4639225" y="1888688"/>
            <a:ext cx="4303000" cy="1849225"/>
          </a:xfrm>
          <a:prstGeom prst="rect">
            <a:avLst/>
          </a:prstGeom>
          <a:noFill/>
          <a:ln>
            <a:noFill/>
          </a:ln>
        </p:spPr>
      </p:pic>
      <p:sp>
        <p:nvSpPr>
          <p:cNvPr id="379" name="Google Shape;379;p45"/>
          <p:cNvSpPr txBox="1"/>
          <p:nvPr>
            <p:ph type="title"/>
          </p:nvPr>
        </p:nvSpPr>
        <p:spPr>
          <a:xfrm>
            <a:off x="1086022" y="337975"/>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2"/>
                </a:solidFill>
              </a:rPr>
              <a:t>Frontend GUI Demo - </a:t>
            </a:r>
            <a:endParaRPr b="1">
              <a:solidFill>
                <a:schemeClr val="lt2"/>
              </a:solidFill>
            </a:endParaRPr>
          </a:p>
          <a:p>
            <a:pPr indent="0" lvl="0" marL="0" rtl="0" algn="l">
              <a:spcBef>
                <a:spcPts val="0"/>
              </a:spcBef>
              <a:spcAft>
                <a:spcPts val="0"/>
              </a:spcAft>
              <a:buNone/>
            </a:pPr>
            <a:r>
              <a:rPr b="1" lang="en-GB">
                <a:solidFill>
                  <a:schemeClr val="lt2"/>
                </a:solidFill>
              </a:rPr>
              <a:t>Company Representative Menu</a:t>
            </a:r>
            <a:endParaRPr b="1">
              <a:solidFill>
                <a:schemeClr val="lt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46"/>
          <p:cNvPicPr preferRelativeResize="0"/>
          <p:nvPr/>
        </p:nvPicPr>
        <p:blipFill>
          <a:blip r:embed="rId3">
            <a:alphaModFix/>
          </a:blip>
          <a:stretch>
            <a:fillRect/>
          </a:stretch>
        </p:blipFill>
        <p:spPr>
          <a:xfrm>
            <a:off x="1438300" y="1645975"/>
            <a:ext cx="2953600" cy="3116050"/>
          </a:xfrm>
          <a:prstGeom prst="rect">
            <a:avLst/>
          </a:prstGeom>
          <a:noFill/>
          <a:ln>
            <a:noFill/>
          </a:ln>
        </p:spPr>
      </p:pic>
      <p:pic>
        <p:nvPicPr>
          <p:cNvPr id="385" name="Google Shape;385;p46"/>
          <p:cNvPicPr preferRelativeResize="0"/>
          <p:nvPr/>
        </p:nvPicPr>
        <p:blipFill>
          <a:blip r:embed="rId4">
            <a:alphaModFix/>
          </a:blip>
          <a:stretch>
            <a:fillRect/>
          </a:stretch>
        </p:blipFill>
        <p:spPr>
          <a:xfrm>
            <a:off x="4572000" y="2154050"/>
            <a:ext cx="4084975" cy="2099900"/>
          </a:xfrm>
          <a:prstGeom prst="rect">
            <a:avLst/>
          </a:prstGeom>
          <a:noFill/>
          <a:ln>
            <a:noFill/>
          </a:ln>
        </p:spPr>
      </p:pic>
      <p:sp>
        <p:nvSpPr>
          <p:cNvPr id="386" name="Google Shape;386;p46"/>
          <p:cNvSpPr txBox="1"/>
          <p:nvPr>
            <p:ph type="title"/>
          </p:nvPr>
        </p:nvSpPr>
        <p:spPr>
          <a:xfrm>
            <a:off x="1086022" y="337975"/>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2"/>
                </a:solidFill>
              </a:rPr>
              <a:t>Frontend GUI Demo - </a:t>
            </a:r>
            <a:endParaRPr b="1">
              <a:solidFill>
                <a:schemeClr val="lt2"/>
              </a:solidFill>
            </a:endParaRPr>
          </a:p>
          <a:p>
            <a:pPr indent="0" lvl="0" marL="0" rtl="0" algn="l">
              <a:spcBef>
                <a:spcPts val="0"/>
              </a:spcBef>
              <a:spcAft>
                <a:spcPts val="0"/>
              </a:spcAft>
              <a:buNone/>
            </a:pPr>
            <a:r>
              <a:rPr b="1" lang="en-GB">
                <a:solidFill>
                  <a:schemeClr val="lt2"/>
                </a:solidFill>
              </a:rPr>
              <a:t>Company Representative Menu (Reviewing Appeals)</a:t>
            </a:r>
            <a:endParaRPr b="1">
              <a:solidFill>
                <a:schemeClr val="lt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47"/>
          <p:cNvPicPr preferRelativeResize="0"/>
          <p:nvPr/>
        </p:nvPicPr>
        <p:blipFill>
          <a:blip r:embed="rId3">
            <a:alphaModFix/>
          </a:blip>
          <a:stretch>
            <a:fillRect/>
          </a:stretch>
        </p:blipFill>
        <p:spPr>
          <a:xfrm>
            <a:off x="1796575" y="1426850"/>
            <a:ext cx="5617800" cy="3405200"/>
          </a:xfrm>
          <a:prstGeom prst="rect">
            <a:avLst/>
          </a:prstGeom>
          <a:noFill/>
          <a:ln>
            <a:noFill/>
          </a:ln>
        </p:spPr>
      </p:pic>
      <p:sp>
        <p:nvSpPr>
          <p:cNvPr id="392" name="Google Shape;392;p47"/>
          <p:cNvSpPr txBox="1"/>
          <p:nvPr>
            <p:ph type="title"/>
          </p:nvPr>
        </p:nvSpPr>
        <p:spPr>
          <a:xfrm>
            <a:off x="1086022" y="337975"/>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2"/>
                </a:solidFill>
              </a:rPr>
              <a:t>Frontend GUI Demo - </a:t>
            </a:r>
            <a:endParaRPr b="1">
              <a:solidFill>
                <a:schemeClr val="lt2"/>
              </a:solidFill>
            </a:endParaRPr>
          </a:p>
          <a:p>
            <a:pPr indent="0" lvl="0" marL="0" rtl="0" algn="l">
              <a:spcBef>
                <a:spcPts val="0"/>
              </a:spcBef>
              <a:spcAft>
                <a:spcPts val="0"/>
              </a:spcAft>
              <a:buNone/>
            </a:pPr>
            <a:r>
              <a:rPr b="1" lang="en-GB">
                <a:solidFill>
                  <a:schemeClr val="lt2"/>
                </a:solidFill>
              </a:rPr>
              <a:t>Filtering Dropdown Menu / Sorting Button</a:t>
            </a:r>
            <a:endParaRPr b="1">
              <a:solidFill>
                <a:schemeClr val="lt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8"/>
          <p:cNvSpPr/>
          <p:nvPr/>
        </p:nvSpPr>
        <p:spPr>
          <a:xfrm>
            <a:off x="3615054" y="1657838"/>
            <a:ext cx="4186928" cy="1243796"/>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lt2"/>
                </a:solidFill>
                <a:latin typeface="Arial"/>
              </a:rPr>
              <a:t>Q &amp; A</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